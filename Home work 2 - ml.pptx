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6" r:id="rId2"/>
    <p:sldId id="257" r:id="rId3"/>
    <p:sldId id="258" r:id="rId4"/>
    <p:sldId id="259" r:id="rId5"/>
    <p:sldId id="261"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24E224-B5D9-47C7-9C7D-A3176D23E474}" type="datetimeFigureOut">
              <a:rPr lang="it-IT" smtClean="0"/>
              <a:t>02/05/2025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B636DF-B5D1-4F50-B8EC-4D181BDFA9B3}" type="slidenum">
              <a:rPr lang="it-IT" smtClean="0"/>
              <a:t>‹N›</a:t>
            </a:fld>
            <a:endParaRPr lang="it-IT"/>
          </a:p>
        </p:txBody>
      </p:sp>
    </p:spTree>
    <p:extLst>
      <p:ext uri="{BB962C8B-B14F-4D97-AF65-F5344CB8AC3E}">
        <p14:creationId xmlns:p14="http://schemas.microsoft.com/office/powerpoint/2010/main" val="1544464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667FCA9-4823-47E1-8B92-F39824E9131C}" type="datetimeFigureOut">
              <a:rPr lang="it-IT" smtClean="0"/>
              <a:t>29/04/2025</a:t>
            </a:fld>
            <a:endParaRPr lang="it-IT"/>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it-IT"/>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102C72A2-C301-47E3-9160-7A9FE5872048}" type="slidenum">
              <a:rPr lang="it-IT" smtClean="0"/>
              <a:t>‹N›</a:t>
            </a:fld>
            <a:endParaRPr lang="it-IT"/>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37789610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2667FCA9-4823-47E1-8B92-F39824E9131C}" type="datetimeFigureOut">
              <a:rPr lang="it-IT" smtClean="0"/>
              <a:t>29/04/2025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02C72A2-C301-47E3-9160-7A9FE5872048}" type="slidenum">
              <a:rPr lang="it-IT" smtClean="0"/>
              <a:t>‹N›</a:t>
            </a:fld>
            <a:endParaRPr lang="it-IT"/>
          </a:p>
        </p:txBody>
      </p:sp>
    </p:spTree>
    <p:extLst>
      <p:ext uri="{BB962C8B-B14F-4D97-AF65-F5344CB8AC3E}">
        <p14:creationId xmlns:p14="http://schemas.microsoft.com/office/powerpoint/2010/main" val="851334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667FCA9-4823-47E1-8B92-F39824E9131C}" type="datetimeFigureOut">
              <a:rPr lang="it-IT" smtClean="0"/>
              <a:t>29/04/2025</a:t>
            </a:fld>
            <a:endParaRPr lang="it-IT"/>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it-IT"/>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02C72A2-C301-47E3-9160-7A9FE5872048}" type="slidenum">
              <a:rPr lang="it-IT" smtClean="0"/>
              <a:t>‹N›</a:t>
            </a:fld>
            <a:endParaRPr lang="it-IT"/>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9729910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it-IT"/>
              <a:t>Fare clic per modificare lo stile del titolo dello schema</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2667FCA9-4823-47E1-8B92-F39824E9131C}" type="datetimeFigureOut">
              <a:rPr lang="it-IT" smtClean="0"/>
              <a:t>29/04/2025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02C72A2-C301-47E3-9160-7A9FE5872048}" type="slidenum">
              <a:rPr lang="it-IT" smtClean="0"/>
              <a:t>‹N›</a:t>
            </a:fld>
            <a:endParaRPr lang="it-IT"/>
          </a:p>
        </p:txBody>
      </p:sp>
    </p:spTree>
    <p:extLst>
      <p:ext uri="{BB962C8B-B14F-4D97-AF65-F5344CB8AC3E}">
        <p14:creationId xmlns:p14="http://schemas.microsoft.com/office/powerpoint/2010/main" val="303796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2667FCA9-4823-47E1-8B92-F39824E9131C}" type="datetimeFigureOut">
              <a:rPr lang="it-IT" smtClean="0"/>
              <a:t>29/04/2025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102C72A2-C301-47E3-9160-7A9FE5872048}" type="slidenum">
              <a:rPr lang="it-IT" smtClean="0"/>
              <a:t>‹N›</a:t>
            </a:fld>
            <a:endParaRPr lang="it-IT"/>
          </a:p>
        </p:txBody>
      </p:sp>
    </p:spTree>
    <p:extLst>
      <p:ext uri="{BB962C8B-B14F-4D97-AF65-F5344CB8AC3E}">
        <p14:creationId xmlns:p14="http://schemas.microsoft.com/office/powerpoint/2010/main" val="624225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2667FCA9-4823-47E1-8B92-F39824E9131C}" type="datetimeFigureOut">
              <a:rPr lang="it-IT" smtClean="0"/>
              <a:t>29/04/2025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102C72A2-C301-47E3-9160-7A9FE5872048}" type="slidenum">
              <a:rPr lang="it-IT" smtClean="0"/>
              <a:t>‹N›</a:t>
            </a:fld>
            <a:endParaRPr lang="it-IT"/>
          </a:p>
        </p:txBody>
      </p:sp>
    </p:spTree>
    <p:extLst>
      <p:ext uri="{BB962C8B-B14F-4D97-AF65-F5344CB8AC3E}">
        <p14:creationId xmlns:p14="http://schemas.microsoft.com/office/powerpoint/2010/main" val="2069584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67FCA9-4823-47E1-8B92-F39824E9131C}" type="datetimeFigureOut">
              <a:rPr lang="it-IT" smtClean="0"/>
              <a:t>29/04/2025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102C72A2-C301-47E3-9160-7A9FE5872048}" type="slidenum">
              <a:rPr lang="it-IT" smtClean="0"/>
              <a:t>‹N›</a:t>
            </a:fld>
            <a:endParaRPr lang="it-IT"/>
          </a:p>
        </p:txBody>
      </p:sp>
    </p:spTree>
    <p:extLst>
      <p:ext uri="{BB962C8B-B14F-4D97-AF65-F5344CB8AC3E}">
        <p14:creationId xmlns:p14="http://schemas.microsoft.com/office/powerpoint/2010/main" val="3381617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it-IT"/>
              <a:t>Fare clic per modificare lo stile del titolo dello schema</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667FCA9-4823-47E1-8B92-F39824E9131C}" type="datetimeFigureOut">
              <a:rPr lang="it-IT" smtClean="0"/>
              <a:t>29/04/2025</a:t>
            </a:fld>
            <a:endParaRPr lang="it-IT"/>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it-IT"/>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02C72A2-C301-47E3-9160-7A9FE5872048}" type="slidenum">
              <a:rPr lang="it-IT" smtClean="0"/>
              <a:t>‹N›</a:t>
            </a:fld>
            <a:endParaRPr lang="it-IT"/>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36414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667FCA9-4823-47E1-8B92-F39824E9131C}" type="datetimeFigureOut">
              <a:rPr lang="it-IT" smtClean="0"/>
              <a:t>29/04/2025</a:t>
            </a:fld>
            <a:endParaRPr lang="it-IT"/>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it-IT"/>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02C72A2-C301-47E3-9160-7A9FE5872048}" type="slidenum">
              <a:rPr lang="it-IT" smtClean="0"/>
              <a:t>‹N›</a:t>
            </a:fld>
            <a:endParaRPr lang="it-IT"/>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3590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2667FCA9-4823-47E1-8B92-F39824E9131C}" type="datetimeFigureOut">
              <a:rPr lang="it-IT" smtClean="0"/>
              <a:t>29/04/2025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02C72A2-C301-47E3-9160-7A9FE5872048}" type="slidenum">
              <a:rPr lang="it-IT" smtClean="0"/>
              <a:t>‹N›</a:t>
            </a:fld>
            <a:endParaRPr lang="it-IT"/>
          </a:p>
        </p:txBody>
      </p:sp>
    </p:spTree>
    <p:extLst>
      <p:ext uri="{BB962C8B-B14F-4D97-AF65-F5344CB8AC3E}">
        <p14:creationId xmlns:p14="http://schemas.microsoft.com/office/powerpoint/2010/main" val="2998809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2667FCA9-4823-47E1-8B92-F39824E9131C}" type="datetimeFigureOut">
              <a:rPr lang="it-IT" smtClean="0"/>
              <a:t>29/04/2025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02C72A2-C301-47E3-9160-7A9FE5872048}" type="slidenum">
              <a:rPr lang="it-IT" smtClean="0"/>
              <a:t>‹N›</a:t>
            </a:fld>
            <a:endParaRPr lang="it-IT"/>
          </a:p>
        </p:txBody>
      </p:sp>
    </p:spTree>
    <p:extLst>
      <p:ext uri="{BB962C8B-B14F-4D97-AF65-F5344CB8AC3E}">
        <p14:creationId xmlns:p14="http://schemas.microsoft.com/office/powerpoint/2010/main" val="171450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667FCA9-4823-47E1-8B92-F39824E9131C}" type="datetimeFigureOut">
              <a:rPr lang="it-IT" smtClean="0"/>
              <a:t>29/04/2025</a:t>
            </a:fld>
            <a:endParaRPr lang="it-IT"/>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it-IT"/>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102C72A2-C301-47E3-9160-7A9FE5872048}" type="slidenum">
              <a:rPr lang="it-IT" smtClean="0"/>
              <a:t>‹N›</a:t>
            </a:fld>
            <a:endParaRPr lang="it-IT"/>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055784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5C1624-9F5D-2B53-1D56-24468C1D1241}"/>
              </a:ext>
            </a:extLst>
          </p:cNvPr>
          <p:cNvSpPr>
            <a:spLocks noGrp="1"/>
          </p:cNvSpPr>
          <p:nvPr>
            <p:ph type="ctrTitle"/>
          </p:nvPr>
        </p:nvSpPr>
        <p:spPr/>
        <p:txBody>
          <a:bodyPr/>
          <a:lstStyle/>
          <a:p>
            <a:r>
              <a:rPr lang="it-IT" dirty="0"/>
              <a:t>Home work 2 - ml</a:t>
            </a:r>
          </a:p>
        </p:txBody>
      </p:sp>
      <p:sp>
        <p:nvSpPr>
          <p:cNvPr id="3" name="Sottotitolo 2">
            <a:extLst>
              <a:ext uri="{FF2B5EF4-FFF2-40B4-BE49-F238E27FC236}">
                <a16:creationId xmlns:a16="http://schemas.microsoft.com/office/drawing/2014/main" id="{E414BD8A-5FA0-463D-B11B-53F29C124B91}"/>
              </a:ext>
            </a:extLst>
          </p:cNvPr>
          <p:cNvSpPr>
            <a:spLocks noGrp="1"/>
          </p:cNvSpPr>
          <p:nvPr>
            <p:ph type="subTitle" idx="1"/>
          </p:nvPr>
        </p:nvSpPr>
        <p:spPr/>
        <p:txBody>
          <a:bodyPr/>
          <a:lstStyle/>
          <a:p>
            <a:r>
              <a:rPr lang="it-IT" dirty="0"/>
              <a:t>Daniele Villarà 1000060679</a:t>
            </a:r>
          </a:p>
        </p:txBody>
      </p:sp>
    </p:spTree>
    <p:extLst>
      <p:ext uri="{BB962C8B-B14F-4D97-AF65-F5344CB8AC3E}">
        <p14:creationId xmlns:p14="http://schemas.microsoft.com/office/powerpoint/2010/main" val="126727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34E140-F11C-55DB-2FC0-AB69A8F16E39}"/>
              </a:ext>
            </a:extLst>
          </p:cNvPr>
          <p:cNvSpPr>
            <a:spLocks noGrp="1"/>
          </p:cNvSpPr>
          <p:nvPr>
            <p:ph type="title"/>
          </p:nvPr>
        </p:nvSpPr>
        <p:spPr>
          <a:xfrm>
            <a:off x="1295400" y="141637"/>
            <a:ext cx="9601200" cy="1485900"/>
          </a:xfrm>
        </p:spPr>
        <p:txBody>
          <a:bodyPr>
            <a:normAutofit/>
          </a:bodyPr>
          <a:lstStyle/>
          <a:p>
            <a:pPr algn="ctr"/>
            <a:r>
              <a:rPr lang="it-IT" dirty="0"/>
              <a:t>CIFAR-10</a:t>
            </a:r>
          </a:p>
        </p:txBody>
      </p:sp>
      <p:sp>
        <p:nvSpPr>
          <p:cNvPr id="4" name="CasellaDiTesto 3">
            <a:extLst>
              <a:ext uri="{FF2B5EF4-FFF2-40B4-BE49-F238E27FC236}">
                <a16:creationId xmlns:a16="http://schemas.microsoft.com/office/drawing/2014/main" id="{1324B62C-3E2B-898F-622E-C81E48398196}"/>
              </a:ext>
            </a:extLst>
          </p:cNvPr>
          <p:cNvSpPr txBox="1"/>
          <p:nvPr/>
        </p:nvSpPr>
        <p:spPr>
          <a:xfrm>
            <a:off x="2043843" y="3690702"/>
            <a:ext cx="2025445" cy="3139321"/>
          </a:xfrm>
          <a:prstGeom prst="rect">
            <a:avLst/>
          </a:prstGeom>
          <a:noFill/>
        </p:spPr>
        <p:txBody>
          <a:bodyPr wrap="square" rtlCol="0">
            <a:spAutoFit/>
          </a:bodyPr>
          <a:lstStyle/>
          <a:p>
            <a:r>
              <a:rPr lang="it-IT" dirty="0"/>
              <a:t>Le 10 classi sono:</a:t>
            </a:r>
          </a:p>
          <a:p>
            <a:pPr marL="285750" indent="-285750">
              <a:buFont typeface="Arial" panose="020B0604020202020204" pitchFamily="34" charset="0"/>
              <a:buChar char="•"/>
            </a:pPr>
            <a:r>
              <a:rPr lang="it-IT" dirty="0"/>
              <a:t>Airplane</a:t>
            </a:r>
          </a:p>
          <a:p>
            <a:pPr marL="285750" indent="-285750">
              <a:buFont typeface="Arial" panose="020B0604020202020204" pitchFamily="34" charset="0"/>
              <a:buChar char="•"/>
            </a:pPr>
            <a:r>
              <a:rPr lang="it-IT" dirty="0"/>
              <a:t>Automobile</a:t>
            </a:r>
          </a:p>
          <a:p>
            <a:pPr marL="285750" indent="-285750">
              <a:buFont typeface="Arial" panose="020B0604020202020204" pitchFamily="34" charset="0"/>
              <a:buChar char="•"/>
            </a:pPr>
            <a:r>
              <a:rPr lang="it-IT" dirty="0"/>
              <a:t>Bird</a:t>
            </a:r>
          </a:p>
          <a:p>
            <a:pPr marL="285750" indent="-285750">
              <a:buFont typeface="Arial" panose="020B0604020202020204" pitchFamily="34" charset="0"/>
              <a:buChar char="•"/>
            </a:pPr>
            <a:r>
              <a:rPr lang="it-IT" dirty="0" err="1"/>
              <a:t>Cat</a:t>
            </a:r>
            <a:endParaRPr lang="it-IT" dirty="0"/>
          </a:p>
          <a:p>
            <a:pPr marL="285750" indent="-285750">
              <a:buFont typeface="Arial" panose="020B0604020202020204" pitchFamily="34" charset="0"/>
              <a:buChar char="•"/>
            </a:pPr>
            <a:r>
              <a:rPr lang="it-IT" dirty="0" err="1"/>
              <a:t>Deer</a:t>
            </a:r>
            <a:endParaRPr lang="it-IT" dirty="0"/>
          </a:p>
          <a:p>
            <a:pPr marL="285750" indent="-285750">
              <a:buFont typeface="Arial" panose="020B0604020202020204" pitchFamily="34" charset="0"/>
              <a:buChar char="•"/>
            </a:pPr>
            <a:r>
              <a:rPr lang="it-IT" dirty="0"/>
              <a:t>Dog</a:t>
            </a:r>
          </a:p>
          <a:p>
            <a:pPr marL="285750" indent="-285750">
              <a:buFont typeface="Arial" panose="020B0604020202020204" pitchFamily="34" charset="0"/>
              <a:buChar char="•"/>
            </a:pPr>
            <a:r>
              <a:rPr lang="it-IT" dirty="0" err="1"/>
              <a:t>Frog</a:t>
            </a:r>
            <a:endParaRPr lang="it-IT" dirty="0"/>
          </a:p>
          <a:p>
            <a:pPr marL="285750" indent="-285750">
              <a:buFont typeface="Arial" panose="020B0604020202020204" pitchFamily="34" charset="0"/>
              <a:buChar char="•"/>
            </a:pPr>
            <a:r>
              <a:rPr lang="it-IT" dirty="0" err="1"/>
              <a:t>Horse</a:t>
            </a:r>
            <a:endParaRPr lang="it-IT" dirty="0"/>
          </a:p>
          <a:p>
            <a:pPr marL="285750" indent="-285750">
              <a:buFont typeface="Arial" panose="020B0604020202020204" pitchFamily="34" charset="0"/>
              <a:buChar char="•"/>
            </a:pPr>
            <a:r>
              <a:rPr lang="it-IT" dirty="0" err="1"/>
              <a:t>Ship</a:t>
            </a:r>
            <a:endParaRPr lang="it-IT" dirty="0"/>
          </a:p>
          <a:p>
            <a:pPr marL="285750" indent="-285750">
              <a:buFont typeface="Arial" panose="020B0604020202020204" pitchFamily="34" charset="0"/>
              <a:buChar char="•"/>
            </a:pPr>
            <a:r>
              <a:rPr lang="it-IT" dirty="0"/>
              <a:t>Truck</a:t>
            </a:r>
          </a:p>
        </p:txBody>
      </p:sp>
      <p:sp>
        <p:nvSpPr>
          <p:cNvPr id="5" name="CasellaDiTesto 4">
            <a:extLst>
              <a:ext uri="{FF2B5EF4-FFF2-40B4-BE49-F238E27FC236}">
                <a16:creationId xmlns:a16="http://schemas.microsoft.com/office/drawing/2014/main" id="{AD6AB961-6413-B2F9-15E7-17EA88513772}"/>
              </a:ext>
            </a:extLst>
          </p:cNvPr>
          <p:cNvSpPr txBox="1"/>
          <p:nvPr/>
        </p:nvSpPr>
        <p:spPr>
          <a:xfrm>
            <a:off x="7305989" y="3849515"/>
            <a:ext cx="3590611" cy="2862322"/>
          </a:xfrm>
          <a:prstGeom prst="rect">
            <a:avLst/>
          </a:prstGeom>
          <a:noFill/>
        </p:spPr>
        <p:txBody>
          <a:bodyPr wrap="square" rtlCol="0">
            <a:spAutoFit/>
          </a:bodyPr>
          <a:lstStyle/>
          <a:p>
            <a:r>
              <a:rPr lang="it-IT" dirty="0"/>
              <a:t>Il training set a sua volta è diviso in 5 gruppi di training ognuno contenente 10,000 immagini in ordine casuale, ogni gruppo può non contenere lo stesso numero di immagini per ogni classe, il test set invece esattamente 1000 per ogni classe ma scelte casualmente.</a:t>
            </a:r>
          </a:p>
          <a:p>
            <a:r>
              <a:rPr lang="it-IT" dirty="0"/>
              <a:t>Le classi sono mutuamente esclusive.</a:t>
            </a:r>
          </a:p>
        </p:txBody>
      </p:sp>
      <p:pic>
        <p:nvPicPr>
          <p:cNvPr id="7" name="Immagine 6">
            <a:extLst>
              <a:ext uri="{FF2B5EF4-FFF2-40B4-BE49-F238E27FC236}">
                <a16:creationId xmlns:a16="http://schemas.microsoft.com/office/drawing/2014/main" id="{3009F88E-FA81-FB48-6790-23058E117F91}"/>
              </a:ext>
            </a:extLst>
          </p:cNvPr>
          <p:cNvPicPr>
            <a:picLocks noChangeAspect="1"/>
          </p:cNvPicPr>
          <p:nvPr/>
        </p:nvPicPr>
        <p:blipFill>
          <a:blip r:embed="rId2"/>
          <a:stretch>
            <a:fillRect/>
          </a:stretch>
        </p:blipFill>
        <p:spPr>
          <a:xfrm>
            <a:off x="4271793" y="4002817"/>
            <a:ext cx="2831691" cy="2812644"/>
          </a:xfrm>
          <a:prstGeom prst="rect">
            <a:avLst/>
          </a:prstGeom>
        </p:spPr>
      </p:pic>
      <p:sp>
        <p:nvSpPr>
          <p:cNvPr id="8" name="Rectangle 1">
            <a:extLst>
              <a:ext uri="{FF2B5EF4-FFF2-40B4-BE49-F238E27FC236}">
                <a16:creationId xmlns:a16="http://schemas.microsoft.com/office/drawing/2014/main" id="{34394C96-D72B-FE70-1FA0-E3FD0192DE6E}"/>
              </a:ext>
            </a:extLst>
          </p:cNvPr>
          <p:cNvSpPr>
            <a:spLocks noChangeArrowheads="1"/>
          </p:cNvSpPr>
          <p:nvPr/>
        </p:nvSpPr>
        <p:spPr bwMode="auto">
          <a:xfrm>
            <a:off x="809433" y="920518"/>
            <a:ext cx="1130439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it-IT" altLang="it-IT" i="0" u="none" strike="noStrike" cap="none" normalizeH="0" baseline="0" dirty="0">
                <a:ln>
                  <a:noFill/>
                </a:ln>
                <a:solidFill>
                  <a:schemeClr val="tx1"/>
                </a:solidFill>
                <a:effectLst/>
                <a:latin typeface="Arial" panose="020B0604020202020204" pitchFamily="34" charset="0"/>
              </a:rPr>
              <a:t>Il CIFAR-10 (Canadian Institute For Advanced Research 10 classes) è un dataset largamente utilizzato nella comunità del machine learning per problemi di classificazione di immagini.</a:t>
            </a:r>
            <a:br>
              <a:rPr kumimoji="0" lang="it-IT" altLang="it-IT" i="0" u="none" strike="noStrike" cap="none" normalizeH="0" baseline="0" dirty="0">
                <a:ln>
                  <a:noFill/>
                </a:ln>
                <a:solidFill>
                  <a:schemeClr val="tx1"/>
                </a:solidFill>
                <a:effectLst/>
                <a:latin typeface="Arial" panose="020B0604020202020204" pitchFamily="34" charset="0"/>
              </a:rPr>
            </a:br>
            <a:r>
              <a:rPr kumimoji="0" lang="it-IT" altLang="it-IT" i="0" u="none" strike="noStrike" cap="none" normalizeH="0" baseline="0" dirty="0">
                <a:ln>
                  <a:noFill/>
                </a:ln>
                <a:solidFill>
                  <a:schemeClr val="tx1"/>
                </a:solidFill>
                <a:effectLst/>
                <a:latin typeface="Arial" panose="020B0604020202020204" pitchFamily="34" charset="0"/>
              </a:rPr>
              <a:t>È spesso impiegato come benchmark per valutare algoritmi di apprendimento supervisionato, in particolare nel contesto del riconoscimento visivo.</a:t>
            </a:r>
          </a:p>
          <a:p>
            <a:pPr marL="0" marR="0" lvl="0" indent="0" defTabSz="914400" rtl="0" eaLnBrk="0" fontAlgn="base" latinLnBrk="0" hangingPunct="0">
              <a:lnSpc>
                <a:spcPct val="100000"/>
              </a:lnSpc>
              <a:spcBef>
                <a:spcPct val="0"/>
              </a:spcBef>
              <a:spcAft>
                <a:spcPct val="0"/>
              </a:spcAft>
              <a:buClrTx/>
              <a:buSzTx/>
              <a:buFontTx/>
              <a:buNone/>
              <a:tabLst/>
            </a:pPr>
            <a:r>
              <a:rPr kumimoji="0" lang="it-IT" altLang="it-IT" i="0" u="none" strike="noStrike" cap="none" normalizeH="0" baseline="0" dirty="0">
                <a:ln>
                  <a:noFill/>
                </a:ln>
                <a:solidFill>
                  <a:schemeClr val="tx1"/>
                </a:solidFill>
                <a:effectLst/>
                <a:latin typeface="Arial" panose="020B0604020202020204" pitchFamily="34" charset="0"/>
              </a:rPr>
              <a:t>Il dataset è composto da:</a:t>
            </a: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i="0" u="none" strike="noStrike" cap="none" normalizeH="0" baseline="0" dirty="0">
                <a:ln>
                  <a:noFill/>
                </a:ln>
                <a:solidFill>
                  <a:schemeClr val="tx1"/>
                </a:solidFill>
                <a:effectLst/>
                <a:latin typeface="Arial" panose="020B0604020202020204" pitchFamily="34" charset="0"/>
              </a:rPr>
              <a:t> 60.000 immagini a colori (32×32 pixel),</a:t>
            </a: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i="0" u="none" strike="noStrike" cap="none" normalizeH="0" baseline="0" dirty="0">
                <a:ln>
                  <a:noFill/>
                </a:ln>
                <a:solidFill>
                  <a:schemeClr val="tx1"/>
                </a:solidFill>
                <a:effectLst/>
                <a:latin typeface="Arial" panose="020B0604020202020204" pitchFamily="34" charset="0"/>
              </a:rPr>
              <a:t> suddivise in 10 classi bilanciate,</a:t>
            </a:r>
          </a:p>
          <a:p>
            <a:pPr marL="0" marR="0" lvl="0" indent="0" defTabSz="914400" rtl="0" eaLnBrk="0" fontAlgn="base" latinLnBrk="0" hangingPunct="0">
              <a:lnSpc>
                <a:spcPct val="100000"/>
              </a:lnSpc>
              <a:spcBef>
                <a:spcPct val="0"/>
              </a:spcBef>
              <a:spcAft>
                <a:spcPct val="0"/>
              </a:spcAft>
              <a:buClrTx/>
              <a:buSzTx/>
              <a:buFontTx/>
              <a:buChar char="•"/>
              <a:tabLst/>
            </a:pPr>
            <a:r>
              <a:rPr kumimoji="0" lang="it-IT" altLang="it-IT" i="0" u="none" strike="noStrike" cap="none" normalizeH="0" baseline="0" dirty="0">
                <a:ln>
                  <a:noFill/>
                </a:ln>
                <a:solidFill>
                  <a:schemeClr val="tx1"/>
                </a:solidFill>
                <a:effectLst/>
                <a:latin typeface="Arial" panose="020B0604020202020204" pitchFamily="34" charset="0"/>
              </a:rPr>
              <a:t> con 50.000 immagini per il training set e 10.000 per il test set.</a:t>
            </a:r>
          </a:p>
          <a:p>
            <a:pPr marL="0" marR="0" lvl="0" indent="0" defTabSz="914400" rtl="0" eaLnBrk="0" fontAlgn="base" latinLnBrk="0" hangingPunct="0">
              <a:lnSpc>
                <a:spcPct val="100000"/>
              </a:lnSpc>
              <a:spcBef>
                <a:spcPct val="0"/>
              </a:spcBef>
              <a:spcAft>
                <a:spcPct val="0"/>
              </a:spcAft>
              <a:buClrTx/>
              <a:buSzTx/>
              <a:buFontTx/>
              <a:buNone/>
              <a:tabLst/>
            </a:pPr>
            <a:r>
              <a:rPr kumimoji="0" lang="it-IT" altLang="it-IT" i="0" u="none" strike="noStrike" cap="none" normalizeH="0" baseline="0" dirty="0">
                <a:ln>
                  <a:noFill/>
                </a:ln>
                <a:solidFill>
                  <a:schemeClr val="tx1"/>
                </a:solidFill>
                <a:effectLst/>
                <a:latin typeface="Arial" panose="020B0604020202020204" pitchFamily="34" charset="0"/>
              </a:rPr>
              <a:t>Ogni immagine è rappresentata da 3 canali RGB, quindi ogni campione ha forma </a:t>
            </a:r>
            <a:r>
              <a:rPr kumimoji="0" lang="it-IT" altLang="it-IT" i="0" u="none" strike="noStrike" cap="none" normalizeH="0" baseline="0" dirty="0">
                <a:ln>
                  <a:noFill/>
                </a:ln>
                <a:solidFill>
                  <a:schemeClr val="tx1"/>
                </a:solidFill>
                <a:effectLst/>
                <a:latin typeface="Arial Unicode MS"/>
              </a:rPr>
              <a:t>(32, 32, 3)</a:t>
            </a:r>
            <a:r>
              <a:rPr kumimoji="0" lang="it-IT" altLang="it-IT" i="0" u="none" strike="noStrike" cap="none" normalizeH="0" baseline="0" dirty="0">
                <a:ln>
                  <a:noFill/>
                </a:ln>
                <a:solidFill>
                  <a:schemeClr val="tx1"/>
                </a:solidFill>
                <a:effectLst/>
              </a:rPr>
              <a:t>.</a:t>
            </a:r>
            <a:endParaRPr kumimoji="0" lang="it-IT" altLang="it-IT"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1088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FBC6E351-B610-8B52-FC07-4B0837A0A401}"/>
              </a:ext>
            </a:extLst>
          </p:cNvPr>
          <p:cNvSpPr txBox="1"/>
          <p:nvPr/>
        </p:nvSpPr>
        <p:spPr>
          <a:xfrm>
            <a:off x="594851" y="282952"/>
            <a:ext cx="11002297" cy="707886"/>
          </a:xfrm>
          <a:prstGeom prst="rect">
            <a:avLst/>
          </a:prstGeom>
          <a:noFill/>
        </p:spPr>
        <p:txBody>
          <a:bodyPr wrap="square" rtlCol="0">
            <a:spAutoFit/>
          </a:bodyPr>
          <a:lstStyle/>
          <a:p>
            <a:pPr algn="ctr"/>
            <a:r>
              <a:rPr lang="it-IT" sz="4000" dirty="0"/>
              <a:t>DESCRIZIONE DEL PROCEDIMENTO ADOTTATO</a:t>
            </a:r>
          </a:p>
        </p:txBody>
      </p:sp>
      <p:sp>
        <p:nvSpPr>
          <p:cNvPr id="4" name="CasellaDiTesto 3">
            <a:extLst>
              <a:ext uri="{FF2B5EF4-FFF2-40B4-BE49-F238E27FC236}">
                <a16:creationId xmlns:a16="http://schemas.microsoft.com/office/drawing/2014/main" id="{8BAB39EA-8E4C-A9A8-060C-1DCC3FF6D86F}"/>
              </a:ext>
            </a:extLst>
          </p:cNvPr>
          <p:cNvSpPr txBox="1"/>
          <p:nvPr/>
        </p:nvSpPr>
        <p:spPr>
          <a:xfrm>
            <a:off x="737418" y="990838"/>
            <a:ext cx="11080955" cy="5647700"/>
          </a:xfrm>
          <a:prstGeom prst="rect">
            <a:avLst/>
          </a:prstGeom>
          <a:noFill/>
        </p:spPr>
        <p:txBody>
          <a:bodyPr wrap="square" rtlCol="0">
            <a:spAutoFit/>
          </a:bodyPr>
          <a:lstStyle/>
          <a:p>
            <a:pPr marL="342900" indent="-342900" algn="just">
              <a:buFont typeface="+mj-lt"/>
              <a:buAutoNum type="arabicPeriod"/>
            </a:pPr>
            <a:r>
              <a:rPr lang="it-IT" sz="1900" b="1" dirty="0"/>
              <a:t>Caricamento del dataset: </a:t>
            </a:r>
            <a:r>
              <a:rPr lang="it-IT" sz="1900" dirty="0"/>
              <a:t>il dataset è stato caricato tramite l’interfaccia ‘</a:t>
            </a:r>
            <a:r>
              <a:rPr lang="it-IT" sz="1900" dirty="0" err="1"/>
              <a:t>keras.datasets</a:t>
            </a:r>
            <a:r>
              <a:rPr lang="it-IT" sz="1900" dirty="0"/>
              <a:t>’ che fornisce due insiemi distinti: training e test;</a:t>
            </a:r>
          </a:p>
          <a:p>
            <a:pPr marL="342900" indent="-342900" algn="just">
              <a:buFont typeface="+mj-lt"/>
              <a:buAutoNum type="arabicPeriod"/>
            </a:pPr>
            <a:r>
              <a:rPr lang="it-IT" sz="1900" b="1" dirty="0"/>
              <a:t>Sotto-campionamento: </a:t>
            </a:r>
            <a:r>
              <a:rPr lang="it-IT" sz="1900" dirty="0"/>
              <a:t>Per ridurre i tempi computazionali si applica un campionamento casuale stratificato riducendo il dataset, mantenendo la distribuzione originale delle classi;</a:t>
            </a:r>
          </a:p>
          <a:p>
            <a:pPr marL="342900" indent="-342900" algn="just">
              <a:buFont typeface="+mj-lt"/>
              <a:buAutoNum type="arabicPeriod"/>
            </a:pPr>
            <a:r>
              <a:rPr lang="it-IT" sz="1900" b="1" dirty="0" err="1"/>
              <a:t>Preprocessing</a:t>
            </a:r>
            <a:r>
              <a:rPr lang="it-IT" sz="1900" b="1" dirty="0"/>
              <a:t> e standardizzazione: </a:t>
            </a:r>
            <a:r>
              <a:rPr lang="it-IT" sz="1900" dirty="0"/>
              <a:t>per agevolare la compatibilità si attua un processo di ‘</a:t>
            </a:r>
            <a:r>
              <a:rPr lang="it-IT" sz="1900" dirty="0" err="1"/>
              <a:t>flattening</a:t>
            </a:r>
            <a:r>
              <a:rPr lang="it-IT" sz="1900" dirty="0"/>
              <a:t>’ sulle features che passano da 32X32X3 a 3072, e sui target che passano da dimensione (n,1) a dimensione (n), inoltre si decide di standardizzare per evitare che i valori più grandi acquisiscano maggiore importanza;</a:t>
            </a:r>
          </a:p>
          <a:p>
            <a:pPr marL="342900" indent="-342900" algn="just">
              <a:buFont typeface="+mj-lt"/>
              <a:buAutoNum type="arabicPeriod"/>
            </a:pPr>
            <a:r>
              <a:rPr lang="it-IT" sz="1900" b="1" dirty="0"/>
              <a:t>Scelta dei modelli: </a:t>
            </a:r>
            <a:r>
              <a:rPr lang="it-IT" sz="1900" dirty="0"/>
              <a:t>sono stati selezionati i 4 classificatori e vengono definiti i modelli;</a:t>
            </a:r>
          </a:p>
          <a:p>
            <a:pPr marL="342900" indent="-342900" algn="just">
              <a:buFont typeface="+mj-lt"/>
              <a:buAutoNum type="arabicPeriod"/>
            </a:pPr>
            <a:r>
              <a:rPr lang="it-IT" sz="1900" b="1" dirty="0"/>
              <a:t>Model </a:t>
            </a:r>
            <a:r>
              <a:rPr lang="it-IT" sz="1900" b="1" dirty="0" err="1"/>
              <a:t>selection</a:t>
            </a:r>
            <a:r>
              <a:rPr lang="it-IT" sz="1900" b="1" dirty="0"/>
              <a:t> e </a:t>
            </a:r>
            <a:r>
              <a:rPr lang="it-IT" sz="1900" b="1" dirty="0" err="1"/>
              <a:t>GridSearch</a:t>
            </a:r>
            <a:r>
              <a:rPr lang="it-IT" sz="1900" b="1" dirty="0"/>
              <a:t>: </a:t>
            </a:r>
            <a:r>
              <a:rPr lang="it-IT" sz="1900" dirty="0"/>
              <a:t>per ogni modello viene istanziata una griglia di </a:t>
            </a:r>
            <a:r>
              <a:rPr lang="it-IT" sz="1900" dirty="0" err="1"/>
              <a:t>iperparametri</a:t>
            </a:r>
            <a:r>
              <a:rPr lang="it-IT" sz="1900" dirty="0"/>
              <a:t> sulla quale viene fatta la ricerca dei valori ottimali tramite </a:t>
            </a:r>
            <a:r>
              <a:rPr lang="it-IT" sz="1900" dirty="0" err="1"/>
              <a:t>GridSearchCV</a:t>
            </a:r>
            <a:r>
              <a:rPr lang="it-IT" sz="1900" dirty="0"/>
              <a:t>, sfruttando una validazione incrociata a 5 </a:t>
            </a:r>
            <a:r>
              <a:rPr lang="it-IT" sz="1900" dirty="0" err="1"/>
              <a:t>fold</a:t>
            </a:r>
            <a:r>
              <a:rPr lang="it-IT" sz="1900" dirty="0"/>
              <a:t>, questo approccio ci permette di esplorare sistematicamente lo spazio degli </a:t>
            </a:r>
            <a:r>
              <a:rPr lang="it-IT" sz="1900" dirty="0" err="1"/>
              <a:t>iperparametri</a:t>
            </a:r>
            <a:r>
              <a:rPr lang="it-IT" sz="1900" dirty="0"/>
              <a:t>, evitando la scelta manuale e potenzialmente non ottimale dei parametri di ciascun modello;</a:t>
            </a:r>
          </a:p>
          <a:p>
            <a:pPr marL="342900" indent="-342900" algn="just">
              <a:buFont typeface="+mj-lt"/>
              <a:buAutoNum type="arabicPeriod"/>
            </a:pPr>
            <a:r>
              <a:rPr lang="it-IT" sz="1900" b="1" dirty="0"/>
              <a:t>Valutazione delle prestazioni: </a:t>
            </a:r>
            <a:r>
              <a:rPr lang="it-IT" sz="1900" dirty="0"/>
              <a:t>per confrontare i modelli selezionati sono state utilizzate delle metriche standard di classificazione: </a:t>
            </a:r>
            <a:r>
              <a:rPr lang="it-IT" sz="1900" dirty="0" err="1"/>
              <a:t>accuracy</a:t>
            </a:r>
            <a:r>
              <a:rPr lang="it-IT" sz="1900" dirty="0"/>
              <a:t>, </a:t>
            </a:r>
            <a:r>
              <a:rPr lang="it-IT" sz="1900" dirty="0" err="1"/>
              <a:t>precision</a:t>
            </a:r>
            <a:r>
              <a:rPr lang="it-IT" sz="1900" dirty="0"/>
              <a:t>, recall, F1 score e la visualizzazione della </a:t>
            </a:r>
            <a:r>
              <a:rPr lang="it-IT" sz="1900" dirty="0" err="1"/>
              <a:t>confusion</a:t>
            </a:r>
            <a:r>
              <a:rPr lang="it-IT" sz="1900" dirty="0"/>
              <a:t> </a:t>
            </a:r>
            <a:r>
              <a:rPr lang="it-IT" sz="1900" dirty="0" err="1"/>
              <a:t>matrix</a:t>
            </a:r>
            <a:r>
              <a:rPr lang="it-IT" sz="1900" dirty="0"/>
              <a:t>;</a:t>
            </a:r>
          </a:p>
          <a:p>
            <a:pPr marL="342900" indent="-342900" algn="just">
              <a:buFont typeface="+mj-lt"/>
              <a:buAutoNum type="arabicPeriod"/>
            </a:pPr>
            <a:r>
              <a:rPr lang="it-IT" sz="1900" b="1" dirty="0"/>
              <a:t>Confronto delle prestazioni: </a:t>
            </a:r>
            <a:r>
              <a:rPr lang="it-IT" sz="1900" dirty="0"/>
              <a:t>per ottenere una immagine ancora più chiara della bontà dei modelli si confrontano i risultati ottenuti al variare della percentuale di sotto-campionamento, potendo ottenere così ulteriori considerazioni sui modelli.</a:t>
            </a:r>
            <a:endParaRPr lang="it-IT" sz="1900" b="1" dirty="0"/>
          </a:p>
        </p:txBody>
      </p:sp>
    </p:spTree>
    <p:extLst>
      <p:ext uri="{BB962C8B-B14F-4D97-AF65-F5344CB8AC3E}">
        <p14:creationId xmlns:p14="http://schemas.microsoft.com/office/powerpoint/2010/main" val="3962659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28BBFD05-22D7-C6BB-4E17-48A502FA4A6A}"/>
              </a:ext>
            </a:extLst>
          </p:cNvPr>
          <p:cNvSpPr txBox="1"/>
          <p:nvPr/>
        </p:nvSpPr>
        <p:spPr>
          <a:xfrm>
            <a:off x="1995948" y="0"/>
            <a:ext cx="8200104" cy="769441"/>
          </a:xfrm>
          <a:prstGeom prst="rect">
            <a:avLst/>
          </a:prstGeom>
          <a:noFill/>
        </p:spPr>
        <p:txBody>
          <a:bodyPr wrap="square" rtlCol="0">
            <a:spAutoFit/>
          </a:bodyPr>
          <a:lstStyle/>
          <a:p>
            <a:pPr algn="ctr"/>
            <a:r>
              <a:rPr lang="it-IT" sz="4400" dirty="0"/>
              <a:t>Descrizione risultati al 20%</a:t>
            </a:r>
          </a:p>
        </p:txBody>
      </p:sp>
      <p:pic>
        <p:nvPicPr>
          <p:cNvPr id="8" name="Immagine 7" descr="Immagine che contiene testo, schermata, Carattere&#10;&#10;Il contenuto generato dall'IA potrebbe non essere corretto.">
            <a:extLst>
              <a:ext uri="{FF2B5EF4-FFF2-40B4-BE49-F238E27FC236}">
                <a16:creationId xmlns:a16="http://schemas.microsoft.com/office/drawing/2014/main" id="{F79D0538-CB53-5BFD-C2B1-6EF29757A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071" y="690783"/>
            <a:ext cx="7216877" cy="1284360"/>
          </a:xfrm>
          <a:prstGeom prst="rect">
            <a:avLst/>
          </a:prstGeom>
        </p:spPr>
      </p:pic>
      <p:sp>
        <p:nvSpPr>
          <p:cNvPr id="9" name="CasellaDiTesto 8">
            <a:extLst>
              <a:ext uri="{FF2B5EF4-FFF2-40B4-BE49-F238E27FC236}">
                <a16:creationId xmlns:a16="http://schemas.microsoft.com/office/drawing/2014/main" id="{E542E5AF-7C17-2D2E-4CF7-2D037F7CD6FF}"/>
              </a:ext>
            </a:extLst>
          </p:cNvPr>
          <p:cNvSpPr txBox="1"/>
          <p:nvPr/>
        </p:nvSpPr>
        <p:spPr>
          <a:xfrm>
            <a:off x="875071" y="1981006"/>
            <a:ext cx="11130116" cy="369332"/>
          </a:xfrm>
          <a:prstGeom prst="rect">
            <a:avLst/>
          </a:prstGeom>
          <a:noFill/>
        </p:spPr>
        <p:txBody>
          <a:bodyPr wrap="square" rtlCol="0">
            <a:spAutoFit/>
          </a:bodyPr>
          <a:lstStyle/>
          <a:p>
            <a:r>
              <a:rPr lang="it-IT" dirty="0"/>
              <a:t>I risultati mostrano le configurazioni di parametri per ogni modello che ottengono il miglior risultato (</a:t>
            </a:r>
            <a:r>
              <a:rPr lang="it-IT" dirty="0" err="1"/>
              <a:t>accuracy</a:t>
            </a:r>
            <a:r>
              <a:rPr lang="it-IT" dirty="0"/>
              <a:t>)</a:t>
            </a:r>
          </a:p>
        </p:txBody>
      </p:sp>
      <p:sp>
        <p:nvSpPr>
          <p:cNvPr id="10" name="CasellaDiTesto 9">
            <a:extLst>
              <a:ext uri="{FF2B5EF4-FFF2-40B4-BE49-F238E27FC236}">
                <a16:creationId xmlns:a16="http://schemas.microsoft.com/office/drawing/2014/main" id="{5A0DAF52-2CB4-22D1-DFFC-F35B4A79EDCC}"/>
              </a:ext>
            </a:extLst>
          </p:cNvPr>
          <p:cNvSpPr txBox="1"/>
          <p:nvPr/>
        </p:nvSpPr>
        <p:spPr>
          <a:xfrm>
            <a:off x="875071" y="2271680"/>
            <a:ext cx="11021961" cy="5632311"/>
          </a:xfrm>
          <a:prstGeom prst="rect">
            <a:avLst/>
          </a:prstGeom>
          <a:noFill/>
        </p:spPr>
        <p:txBody>
          <a:bodyPr wrap="square" rtlCol="0">
            <a:spAutoFit/>
          </a:bodyPr>
          <a:lstStyle/>
          <a:p>
            <a:r>
              <a:rPr lang="it-IT" dirty="0"/>
              <a:t>LEGENDA: </a:t>
            </a:r>
          </a:p>
          <a:p>
            <a:r>
              <a:rPr lang="it-IT" dirty="0" err="1"/>
              <a:t>Logistic</a:t>
            </a:r>
            <a:r>
              <a:rPr lang="it-IT" dirty="0"/>
              <a:t> </a:t>
            </a:r>
            <a:r>
              <a:rPr lang="it-IT" dirty="0" err="1"/>
              <a:t>Regression</a:t>
            </a:r>
            <a:endParaRPr lang="it-IT" dirty="0"/>
          </a:p>
          <a:p>
            <a:pPr marL="285750" indent="-285750">
              <a:buFont typeface="Arial" panose="020B0604020202020204" pitchFamily="34" charset="0"/>
              <a:buChar char="•"/>
            </a:pPr>
            <a:r>
              <a:rPr lang="it-IT" dirty="0"/>
              <a:t>C = 0,1: è l’inverso della regolarizzazione L2, più è piccolo più il modello viene penalizzato;</a:t>
            </a:r>
          </a:p>
          <a:p>
            <a:pPr marL="285750" indent="-285750">
              <a:buFont typeface="Arial" panose="020B0604020202020204" pitchFamily="34" charset="0"/>
              <a:buChar char="•"/>
            </a:pPr>
            <a:r>
              <a:rPr lang="it-IT" dirty="0" err="1"/>
              <a:t>max_iter</a:t>
            </a:r>
            <a:r>
              <a:rPr lang="it-IT" dirty="0"/>
              <a:t> = 100: numero massimo di iterazioni per ottenere la convergenza del modello;</a:t>
            </a:r>
          </a:p>
          <a:p>
            <a:r>
              <a:rPr lang="it-IT" dirty="0"/>
              <a:t>SVM</a:t>
            </a:r>
          </a:p>
          <a:p>
            <a:pPr marL="285750" indent="-285750">
              <a:buFont typeface="Arial" panose="020B0604020202020204" pitchFamily="34" charset="0"/>
              <a:buChar char="•"/>
            </a:pPr>
            <a:r>
              <a:rPr lang="it-IT" dirty="0"/>
              <a:t>C = 10: regola il compromesso tra massimizzare il margine e minimizzare gli errori di classificazione;</a:t>
            </a:r>
          </a:p>
          <a:p>
            <a:pPr marL="285750" indent="-285750">
              <a:buFont typeface="Arial" panose="020B0604020202020204" pitchFamily="34" charset="0"/>
              <a:buChar char="•"/>
            </a:pPr>
            <a:r>
              <a:rPr lang="it-IT" dirty="0"/>
              <a:t>Gamma = scale: determina quanto ‘influenza’ un singolo dato nel training (solo se presente ‘</a:t>
            </a:r>
            <a:r>
              <a:rPr lang="it-IT" dirty="0" err="1"/>
              <a:t>rbf</a:t>
            </a:r>
            <a:r>
              <a:rPr lang="it-IT" dirty="0"/>
              <a:t>’);</a:t>
            </a:r>
          </a:p>
          <a:p>
            <a:pPr marL="285750" indent="-285750">
              <a:buFont typeface="Arial" panose="020B0604020202020204" pitchFamily="34" charset="0"/>
              <a:buChar char="•"/>
            </a:pPr>
            <a:r>
              <a:rPr lang="it-IT" dirty="0"/>
              <a:t>Kernel = </a:t>
            </a:r>
            <a:r>
              <a:rPr lang="it-IT" dirty="0" err="1"/>
              <a:t>rbf</a:t>
            </a:r>
            <a:r>
              <a:rPr lang="it-IT" dirty="0"/>
              <a:t>: funzione che trasforma i dati nello spazio delle </a:t>
            </a:r>
            <a:r>
              <a:rPr lang="it-IT" dirty="0" err="1"/>
              <a:t>feauture</a:t>
            </a:r>
            <a:r>
              <a:rPr lang="it-IT" dirty="0"/>
              <a:t>;</a:t>
            </a:r>
          </a:p>
          <a:p>
            <a:r>
              <a:rPr lang="it-IT" dirty="0"/>
              <a:t>KNN</a:t>
            </a:r>
          </a:p>
          <a:p>
            <a:pPr marL="285750" indent="-285750">
              <a:buFont typeface="Arial" panose="020B0604020202020204" pitchFamily="34" charset="0"/>
              <a:buChar char="•"/>
            </a:pPr>
            <a:r>
              <a:rPr lang="it-IT" dirty="0" err="1"/>
              <a:t>Metric</a:t>
            </a:r>
            <a:r>
              <a:rPr lang="it-IT" dirty="0"/>
              <a:t> = cosine: metrica di distanza usata per calcolare la vicinanza;</a:t>
            </a:r>
          </a:p>
          <a:p>
            <a:pPr marL="285750" indent="-285750">
              <a:buFont typeface="Arial" panose="020B0604020202020204" pitchFamily="34" charset="0"/>
              <a:buChar char="•"/>
            </a:pPr>
            <a:r>
              <a:rPr lang="it-IT" dirty="0" err="1"/>
              <a:t>N_neighbors</a:t>
            </a:r>
            <a:r>
              <a:rPr lang="it-IT" dirty="0"/>
              <a:t> = 9: numero di vicini da considerare per valutare la classe di un nuovo punto;</a:t>
            </a:r>
          </a:p>
          <a:p>
            <a:pPr marL="285750" indent="-285750">
              <a:buFont typeface="Arial" panose="020B0604020202020204" pitchFamily="34" charset="0"/>
              <a:buChar char="•"/>
            </a:pPr>
            <a:r>
              <a:rPr lang="it-IT" dirty="0"/>
              <a:t>Weights = </a:t>
            </a:r>
            <a:r>
              <a:rPr lang="it-IT" dirty="0" err="1"/>
              <a:t>distance</a:t>
            </a:r>
            <a:r>
              <a:rPr lang="it-IT" dirty="0"/>
              <a:t>: definisce l’importanza del vicino al variare della distanza;</a:t>
            </a:r>
          </a:p>
          <a:p>
            <a:r>
              <a:rPr lang="it-IT" dirty="0" err="1"/>
              <a:t>Decision</a:t>
            </a:r>
            <a:r>
              <a:rPr lang="it-IT" dirty="0"/>
              <a:t> Tree</a:t>
            </a:r>
          </a:p>
          <a:p>
            <a:pPr marL="285750" indent="-285750">
              <a:buFont typeface="Arial" panose="020B0604020202020204" pitchFamily="34" charset="0"/>
              <a:buChar char="•"/>
            </a:pPr>
            <a:r>
              <a:rPr lang="it-IT" dirty="0" err="1"/>
              <a:t>Max_depth</a:t>
            </a:r>
            <a:r>
              <a:rPr lang="it-IT" dirty="0"/>
              <a:t> = 10: definisce la profondità massima dell’albero, serve a ridurre l’</a:t>
            </a:r>
            <a:r>
              <a:rPr lang="it-IT" dirty="0" err="1"/>
              <a:t>overfitting</a:t>
            </a:r>
            <a:r>
              <a:rPr lang="it-IT" dirty="0"/>
              <a:t>;</a:t>
            </a:r>
          </a:p>
          <a:p>
            <a:pPr marL="285750" indent="-285750">
              <a:buFont typeface="Arial" panose="020B0604020202020204" pitchFamily="34" charset="0"/>
              <a:buChar char="•"/>
            </a:pPr>
            <a:r>
              <a:rPr lang="it-IT" dirty="0" err="1"/>
              <a:t>Min_samples_leaf</a:t>
            </a:r>
            <a:r>
              <a:rPr lang="it-IT" dirty="0"/>
              <a:t> = 2: numero di campioni richiesti per una foglia, valori alti riducono l’</a:t>
            </a:r>
            <a:r>
              <a:rPr lang="it-IT" dirty="0" err="1"/>
              <a:t>overfitting</a:t>
            </a:r>
            <a:r>
              <a:rPr lang="it-IT" dirty="0"/>
              <a:t>;</a:t>
            </a:r>
          </a:p>
          <a:p>
            <a:pPr marL="285750" indent="-285750">
              <a:buFont typeface="Arial" panose="020B0604020202020204" pitchFamily="34" charset="0"/>
              <a:buChar char="•"/>
            </a:pPr>
            <a:r>
              <a:rPr lang="it-IT" dirty="0" err="1"/>
              <a:t>Min_samples_split</a:t>
            </a:r>
            <a:r>
              <a:rPr lang="it-IT" dirty="0"/>
              <a:t>  =2: numero di campioni richiesti per dividere un nodo interno;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endParaRPr lang="it-IT" dirty="0"/>
          </a:p>
          <a:p>
            <a:endParaRPr lang="it-IT" dirty="0"/>
          </a:p>
          <a:p>
            <a:endParaRPr lang="it-IT" dirty="0"/>
          </a:p>
        </p:txBody>
      </p:sp>
    </p:spTree>
    <p:extLst>
      <p:ext uri="{BB962C8B-B14F-4D97-AF65-F5344CB8AC3E}">
        <p14:creationId xmlns:p14="http://schemas.microsoft.com/office/powerpoint/2010/main" val="3771408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3AA0AE7-CF57-D3F3-214B-A5BB0CDCAE3B}"/>
              </a:ext>
            </a:extLst>
          </p:cNvPr>
          <p:cNvSpPr txBox="1"/>
          <p:nvPr/>
        </p:nvSpPr>
        <p:spPr>
          <a:xfrm>
            <a:off x="1543664" y="196645"/>
            <a:ext cx="9104671" cy="769441"/>
          </a:xfrm>
          <a:prstGeom prst="rect">
            <a:avLst/>
          </a:prstGeom>
          <a:noFill/>
        </p:spPr>
        <p:txBody>
          <a:bodyPr wrap="square" rtlCol="0">
            <a:spAutoFit/>
          </a:bodyPr>
          <a:lstStyle/>
          <a:p>
            <a:pPr algn="ctr"/>
            <a:r>
              <a:rPr lang="it-IT" sz="4400" dirty="0"/>
              <a:t>Risultati </a:t>
            </a:r>
            <a:r>
              <a:rPr lang="it-IT" sz="4400" dirty="0" err="1"/>
              <a:t>Logistic</a:t>
            </a:r>
            <a:r>
              <a:rPr lang="it-IT" sz="4400" dirty="0"/>
              <a:t> </a:t>
            </a:r>
            <a:r>
              <a:rPr lang="it-IT" sz="4400" dirty="0" err="1"/>
              <a:t>Regression</a:t>
            </a:r>
            <a:r>
              <a:rPr lang="it-IT" sz="4400" dirty="0"/>
              <a:t> e SVM</a:t>
            </a:r>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562CC975-2C0E-B11E-28CA-C199329B0D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624" y="1223617"/>
            <a:ext cx="3668703" cy="2700000"/>
          </a:xfrm>
          <a:prstGeom prst="rect">
            <a:avLst/>
          </a:prstGeom>
        </p:spPr>
      </p:pic>
      <p:pic>
        <p:nvPicPr>
          <p:cNvPr id="6" name="Immagine 5" descr="Immagine che contiene testo, schermata, quadrato, numero&#10;&#10;Il contenuto generato dall'IA potrebbe non essere corretto.">
            <a:extLst>
              <a:ext uri="{FF2B5EF4-FFF2-40B4-BE49-F238E27FC236}">
                <a16:creationId xmlns:a16="http://schemas.microsoft.com/office/drawing/2014/main" id="{D3476BEE-BA1B-AF69-1826-E2B8A3CC85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9282" y="1223617"/>
            <a:ext cx="3363151" cy="2700000"/>
          </a:xfrm>
          <a:prstGeom prst="rect">
            <a:avLst/>
          </a:prstGeom>
        </p:spPr>
      </p:pic>
      <p:pic>
        <p:nvPicPr>
          <p:cNvPr id="8" name="Immagine 7" descr="Immagine che contiene testo, schermata, Carattere&#10;&#10;Il contenuto generato dall'IA potrebbe non essere corretto.">
            <a:extLst>
              <a:ext uri="{FF2B5EF4-FFF2-40B4-BE49-F238E27FC236}">
                <a16:creationId xmlns:a16="http://schemas.microsoft.com/office/drawing/2014/main" id="{94F536F4-0802-9CE2-C6E3-2B608E5743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624" y="4040013"/>
            <a:ext cx="3668702" cy="2700000"/>
          </a:xfrm>
          <a:prstGeom prst="rect">
            <a:avLst/>
          </a:prstGeom>
        </p:spPr>
      </p:pic>
      <p:pic>
        <p:nvPicPr>
          <p:cNvPr id="10" name="Immagine 9" descr="Immagine che contiene testo, schermata, quadrato, numero&#10;&#10;Il contenuto generato dall'IA potrebbe non essere corretto.">
            <a:extLst>
              <a:ext uri="{FF2B5EF4-FFF2-40B4-BE49-F238E27FC236}">
                <a16:creationId xmlns:a16="http://schemas.microsoft.com/office/drawing/2014/main" id="{8BBC3EB9-26DD-CD37-BE95-6385478D5B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9282" y="4040013"/>
            <a:ext cx="3363150" cy="2700000"/>
          </a:xfrm>
          <a:prstGeom prst="rect">
            <a:avLst/>
          </a:prstGeom>
        </p:spPr>
      </p:pic>
      <p:sp>
        <p:nvSpPr>
          <p:cNvPr id="11" name="CasellaDiTesto 10">
            <a:extLst>
              <a:ext uri="{FF2B5EF4-FFF2-40B4-BE49-F238E27FC236}">
                <a16:creationId xmlns:a16="http://schemas.microsoft.com/office/drawing/2014/main" id="{6671B7DB-FCF2-E731-639F-0825A2F7C7DA}"/>
              </a:ext>
            </a:extLst>
          </p:cNvPr>
          <p:cNvSpPr txBox="1"/>
          <p:nvPr/>
        </p:nvSpPr>
        <p:spPr>
          <a:xfrm>
            <a:off x="5081633" y="2250451"/>
            <a:ext cx="2969342" cy="646331"/>
          </a:xfrm>
          <a:prstGeom prst="rect">
            <a:avLst/>
          </a:prstGeom>
          <a:noFill/>
        </p:spPr>
        <p:txBody>
          <a:bodyPr wrap="square" rtlCol="0">
            <a:spAutoFit/>
          </a:bodyPr>
          <a:lstStyle/>
          <a:p>
            <a:pPr algn="ctr"/>
            <a:r>
              <a:rPr lang="it-IT" dirty="0" err="1"/>
              <a:t>Logistic</a:t>
            </a:r>
            <a:r>
              <a:rPr lang="it-IT" dirty="0"/>
              <a:t> </a:t>
            </a:r>
            <a:r>
              <a:rPr lang="it-IT" dirty="0" err="1"/>
              <a:t>Regression</a:t>
            </a:r>
            <a:endParaRPr lang="it-IT" dirty="0"/>
          </a:p>
          <a:p>
            <a:r>
              <a:rPr lang="it-IT" dirty="0" err="1"/>
              <a:t>Accuracy</a:t>
            </a:r>
            <a:r>
              <a:rPr lang="it-IT" dirty="0"/>
              <a:t>: 0,3195 = 31,95%</a:t>
            </a:r>
          </a:p>
        </p:txBody>
      </p:sp>
      <p:sp>
        <p:nvSpPr>
          <p:cNvPr id="12" name="CasellaDiTesto 11">
            <a:extLst>
              <a:ext uri="{FF2B5EF4-FFF2-40B4-BE49-F238E27FC236}">
                <a16:creationId xmlns:a16="http://schemas.microsoft.com/office/drawing/2014/main" id="{1F27B120-D135-51EA-0E64-BFC790C5E150}"/>
              </a:ext>
            </a:extLst>
          </p:cNvPr>
          <p:cNvSpPr txBox="1"/>
          <p:nvPr/>
        </p:nvSpPr>
        <p:spPr>
          <a:xfrm>
            <a:off x="5130794" y="5066847"/>
            <a:ext cx="2871019" cy="646331"/>
          </a:xfrm>
          <a:prstGeom prst="rect">
            <a:avLst/>
          </a:prstGeom>
          <a:noFill/>
        </p:spPr>
        <p:txBody>
          <a:bodyPr wrap="square" rtlCol="0">
            <a:spAutoFit/>
          </a:bodyPr>
          <a:lstStyle/>
          <a:p>
            <a:pPr algn="ctr"/>
            <a:r>
              <a:rPr lang="it-IT" dirty="0"/>
              <a:t>SVM </a:t>
            </a:r>
          </a:p>
          <a:p>
            <a:r>
              <a:rPr lang="it-IT" dirty="0" err="1"/>
              <a:t>Accuracy</a:t>
            </a:r>
            <a:r>
              <a:rPr lang="it-IT" dirty="0"/>
              <a:t>: 0,462 = 46,20%</a:t>
            </a:r>
          </a:p>
        </p:txBody>
      </p:sp>
    </p:spTree>
    <p:extLst>
      <p:ext uri="{BB962C8B-B14F-4D97-AF65-F5344CB8AC3E}">
        <p14:creationId xmlns:p14="http://schemas.microsoft.com/office/powerpoint/2010/main" val="3999831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testo, schermata, quadrato, numero&#10;&#10;Il contenuto generato dall'IA potrebbe non essere corretto.">
            <a:extLst>
              <a:ext uri="{FF2B5EF4-FFF2-40B4-BE49-F238E27FC236}">
                <a16:creationId xmlns:a16="http://schemas.microsoft.com/office/drawing/2014/main" id="{0A0B1440-A5E6-57CB-A41B-633050B89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1716" y="3937241"/>
            <a:ext cx="3165987" cy="2785106"/>
          </a:xfrm>
          <a:prstGeom prst="rect">
            <a:avLst/>
          </a:prstGeom>
        </p:spPr>
      </p:pic>
      <p:pic>
        <p:nvPicPr>
          <p:cNvPr id="7" name="Immagine 6" descr="Immagine che contiene testo, schermata, Carattere&#10;&#10;Il contenuto generato dall'IA potrebbe non essere corretto.">
            <a:extLst>
              <a:ext uri="{FF2B5EF4-FFF2-40B4-BE49-F238E27FC236}">
                <a16:creationId xmlns:a16="http://schemas.microsoft.com/office/drawing/2014/main" id="{F28D09B0-1DEA-C9CF-8812-DE89B1CB3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098" y="3942735"/>
            <a:ext cx="3701597" cy="2779612"/>
          </a:xfrm>
          <a:prstGeom prst="rect">
            <a:avLst/>
          </a:prstGeom>
        </p:spPr>
      </p:pic>
      <p:pic>
        <p:nvPicPr>
          <p:cNvPr id="9" name="Immagine 8" descr="Immagine che contiene testo, schermata, diagramma, quadrato&#10;&#10;Il contenuto generato dall'IA potrebbe non essere corretto.">
            <a:extLst>
              <a:ext uri="{FF2B5EF4-FFF2-40B4-BE49-F238E27FC236}">
                <a16:creationId xmlns:a16="http://schemas.microsoft.com/office/drawing/2014/main" id="{DBD70A66-CBB4-02C9-0C4C-9B0B77533D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1716" y="1166066"/>
            <a:ext cx="3165987" cy="2682152"/>
          </a:xfrm>
          <a:prstGeom prst="rect">
            <a:avLst/>
          </a:prstGeom>
        </p:spPr>
      </p:pic>
      <p:pic>
        <p:nvPicPr>
          <p:cNvPr id="11" name="Immagine 10" descr="Immagine che contiene testo, schermata, Carattere&#10;&#10;Il contenuto generato dall'IA potrebbe non essere corretto.">
            <a:extLst>
              <a:ext uri="{FF2B5EF4-FFF2-40B4-BE49-F238E27FC236}">
                <a16:creationId xmlns:a16="http://schemas.microsoft.com/office/drawing/2014/main" id="{36EF8BA4-4C6B-7F3B-B139-49A2C0FA61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098" y="1184757"/>
            <a:ext cx="3701597" cy="2676862"/>
          </a:xfrm>
          <a:prstGeom prst="rect">
            <a:avLst/>
          </a:prstGeom>
        </p:spPr>
      </p:pic>
      <p:sp>
        <p:nvSpPr>
          <p:cNvPr id="12" name="CasellaDiTesto 11">
            <a:extLst>
              <a:ext uri="{FF2B5EF4-FFF2-40B4-BE49-F238E27FC236}">
                <a16:creationId xmlns:a16="http://schemas.microsoft.com/office/drawing/2014/main" id="{657BFAAE-C318-5F61-227C-A67201D58E2B}"/>
              </a:ext>
            </a:extLst>
          </p:cNvPr>
          <p:cNvSpPr txBox="1"/>
          <p:nvPr/>
        </p:nvSpPr>
        <p:spPr>
          <a:xfrm>
            <a:off x="1012722" y="143487"/>
            <a:ext cx="10166555" cy="769441"/>
          </a:xfrm>
          <a:prstGeom prst="rect">
            <a:avLst/>
          </a:prstGeom>
          <a:noFill/>
        </p:spPr>
        <p:txBody>
          <a:bodyPr wrap="square" rtlCol="0">
            <a:spAutoFit/>
          </a:bodyPr>
          <a:lstStyle/>
          <a:p>
            <a:pPr algn="ctr"/>
            <a:r>
              <a:rPr lang="it-IT" sz="4400" dirty="0"/>
              <a:t>Risultati KNN </a:t>
            </a:r>
            <a:r>
              <a:rPr lang="it-IT" sz="4400" dirty="0" err="1"/>
              <a:t>Decision</a:t>
            </a:r>
            <a:r>
              <a:rPr lang="it-IT" sz="4400" dirty="0"/>
              <a:t> Tree</a:t>
            </a:r>
            <a:r>
              <a:rPr lang="it-IT" dirty="0"/>
              <a:t> </a:t>
            </a:r>
          </a:p>
        </p:txBody>
      </p:sp>
      <p:sp>
        <p:nvSpPr>
          <p:cNvPr id="13" name="CasellaDiTesto 12">
            <a:extLst>
              <a:ext uri="{FF2B5EF4-FFF2-40B4-BE49-F238E27FC236}">
                <a16:creationId xmlns:a16="http://schemas.microsoft.com/office/drawing/2014/main" id="{08BE89E1-CC8B-4CC3-5FE3-AEA2063CDF03}"/>
              </a:ext>
            </a:extLst>
          </p:cNvPr>
          <p:cNvSpPr txBox="1"/>
          <p:nvPr/>
        </p:nvSpPr>
        <p:spPr>
          <a:xfrm>
            <a:off x="5217115" y="2200022"/>
            <a:ext cx="2920181" cy="646331"/>
          </a:xfrm>
          <a:prstGeom prst="rect">
            <a:avLst/>
          </a:prstGeom>
          <a:noFill/>
        </p:spPr>
        <p:txBody>
          <a:bodyPr wrap="square" rtlCol="0">
            <a:spAutoFit/>
          </a:bodyPr>
          <a:lstStyle/>
          <a:p>
            <a:pPr algn="ctr"/>
            <a:r>
              <a:rPr lang="it-IT" dirty="0"/>
              <a:t>KNN</a:t>
            </a:r>
          </a:p>
          <a:p>
            <a:r>
              <a:rPr lang="it-IT" dirty="0" err="1"/>
              <a:t>Accuracy</a:t>
            </a:r>
            <a:r>
              <a:rPr lang="it-IT" dirty="0"/>
              <a:t>: 0,3675 = 36,75%</a:t>
            </a:r>
          </a:p>
        </p:txBody>
      </p:sp>
      <p:sp>
        <p:nvSpPr>
          <p:cNvPr id="14" name="CasellaDiTesto 13">
            <a:extLst>
              <a:ext uri="{FF2B5EF4-FFF2-40B4-BE49-F238E27FC236}">
                <a16:creationId xmlns:a16="http://schemas.microsoft.com/office/drawing/2014/main" id="{07F17983-9082-0BF8-61E5-6C455AD8F2AA}"/>
              </a:ext>
            </a:extLst>
          </p:cNvPr>
          <p:cNvSpPr txBox="1"/>
          <p:nvPr/>
        </p:nvSpPr>
        <p:spPr>
          <a:xfrm>
            <a:off x="5264074" y="5006628"/>
            <a:ext cx="3165987" cy="646331"/>
          </a:xfrm>
          <a:prstGeom prst="rect">
            <a:avLst/>
          </a:prstGeom>
          <a:noFill/>
        </p:spPr>
        <p:txBody>
          <a:bodyPr wrap="square" rtlCol="0">
            <a:spAutoFit/>
          </a:bodyPr>
          <a:lstStyle/>
          <a:p>
            <a:pPr algn="ctr"/>
            <a:r>
              <a:rPr lang="it-IT" dirty="0" err="1"/>
              <a:t>Decision</a:t>
            </a:r>
            <a:r>
              <a:rPr lang="it-IT" dirty="0"/>
              <a:t> Tree</a:t>
            </a:r>
          </a:p>
          <a:p>
            <a:r>
              <a:rPr lang="it-IT" dirty="0" err="1"/>
              <a:t>Accuracy</a:t>
            </a:r>
            <a:r>
              <a:rPr lang="it-IT" dirty="0"/>
              <a:t>: 0,2465 = 24,65%</a:t>
            </a:r>
          </a:p>
        </p:txBody>
      </p:sp>
    </p:spTree>
    <p:extLst>
      <p:ext uri="{BB962C8B-B14F-4D97-AF65-F5344CB8AC3E}">
        <p14:creationId xmlns:p14="http://schemas.microsoft.com/office/powerpoint/2010/main" val="3115212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a 4">
            <a:extLst>
              <a:ext uri="{FF2B5EF4-FFF2-40B4-BE49-F238E27FC236}">
                <a16:creationId xmlns:a16="http://schemas.microsoft.com/office/drawing/2014/main" id="{A804C493-A1F2-F5D7-7BCA-18810D0844B2}"/>
              </a:ext>
            </a:extLst>
          </p:cNvPr>
          <p:cNvGraphicFramePr>
            <a:graphicFrameLocks noGrp="1"/>
          </p:cNvGraphicFramePr>
          <p:nvPr>
            <p:extLst>
              <p:ext uri="{D42A27DB-BD31-4B8C-83A1-F6EECF244321}">
                <p14:modId xmlns:p14="http://schemas.microsoft.com/office/powerpoint/2010/main" val="998689340"/>
              </p:ext>
            </p:extLst>
          </p:nvPr>
        </p:nvGraphicFramePr>
        <p:xfrm>
          <a:off x="796413" y="1564490"/>
          <a:ext cx="11287433" cy="4852267"/>
        </p:xfrm>
        <a:graphic>
          <a:graphicData uri="http://schemas.openxmlformats.org/drawingml/2006/table">
            <a:tbl>
              <a:tblPr firstRow="1" bandRow="1">
                <a:tableStyleId>{5C22544A-7EE6-4342-B048-85BDC9FD1C3A}</a:tableStyleId>
              </a:tblPr>
              <a:tblGrid>
                <a:gridCol w="1288027">
                  <a:extLst>
                    <a:ext uri="{9D8B030D-6E8A-4147-A177-3AD203B41FA5}">
                      <a16:colId xmlns:a16="http://schemas.microsoft.com/office/drawing/2014/main" val="1416731240"/>
                    </a:ext>
                  </a:extLst>
                </a:gridCol>
                <a:gridCol w="924523">
                  <a:extLst>
                    <a:ext uri="{9D8B030D-6E8A-4147-A177-3AD203B41FA5}">
                      <a16:colId xmlns:a16="http://schemas.microsoft.com/office/drawing/2014/main" val="3116142055"/>
                    </a:ext>
                  </a:extLst>
                </a:gridCol>
                <a:gridCol w="829705">
                  <a:extLst>
                    <a:ext uri="{9D8B030D-6E8A-4147-A177-3AD203B41FA5}">
                      <a16:colId xmlns:a16="http://schemas.microsoft.com/office/drawing/2014/main" val="3435861019"/>
                    </a:ext>
                  </a:extLst>
                </a:gridCol>
                <a:gridCol w="1028301">
                  <a:extLst>
                    <a:ext uri="{9D8B030D-6E8A-4147-A177-3AD203B41FA5}">
                      <a16:colId xmlns:a16="http://schemas.microsoft.com/office/drawing/2014/main" val="3533043909"/>
                    </a:ext>
                  </a:extLst>
                </a:gridCol>
                <a:gridCol w="865238">
                  <a:extLst>
                    <a:ext uri="{9D8B030D-6E8A-4147-A177-3AD203B41FA5}">
                      <a16:colId xmlns:a16="http://schemas.microsoft.com/office/drawing/2014/main" val="3243632913"/>
                    </a:ext>
                  </a:extLst>
                </a:gridCol>
                <a:gridCol w="835742">
                  <a:extLst>
                    <a:ext uri="{9D8B030D-6E8A-4147-A177-3AD203B41FA5}">
                      <a16:colId xmlns:a16="http://schemas.microsoft.com/office/drawing/2014/main" val="2124087460"/>
                    </a:ext>
                  </a:extLst>
                </a:gridCol>
                <a:gridCol w="688258">
                  <a:extLst>
                    <a:ext uri="{9D8B030D-6E8A-4147-A177-3AD203B41FA5}">
                      <a16:colId xmlns:a16="http://schemas.microsoft.com/office/drawing/2014/main" val="3426829658"/>
                    </a:ext>
                  </a:extLst>
                </a:gridCol>
                <a:gridCol w="698091">
                  <a:extLst>
                    <a:ext uri="{9D8B030D-6E8A-4147-A177-3AD203B41FA5}">
                      <a16:colId xmlns:a16="http://schemas.microsoft.com/office/drawing/2014/main" val="944361285"/>
                    </a:ext>
                  </a:extLst>
                </a:gridCol>
                <a:gridCol w="872852">
                  <a:extLst>
                    <a:ext uri="{9D8B030D-6E8A-4147-A177-3AD203B41FA5}">
                      <a16:colId xmlns:a16="http://schemas.microsoft.com/office/drawing/2014/main" val="1134863410"/>
                    </a:ext>
                  </a:extLst>
                </a:gridCol>
                <a:gridCol w="798977">
                  <a:extLst>
                    <a:ext uri="{9D8B030D-6E8A-4147-A177-3AD203B41FA5}">
                      <a16:colId xmlns:a16="http://schemas.microsoft.com/office/drawing/2014/main" val="135555577"/>
                    </a:ext>
                  </a:extLst>
                </a:gridCol>
                <a:gridCol w="870679">
                  <a:extLst>
                    <a:ext uri="{9D8B030D-6E8A-4147-A177-3AD203B41FA5}">
                      <a16:colId xmlns:a16="http://schemas.microsoft.com/office/drawing/2014/main" val="1385028610"/>
                    </a:ext>
                  </a:extLst>
                </a:gridCol>
                <a:gridCol w="719879">
                  <a:extLst>
                    <a:ext uri="{9D8B030D-6E8A-4147-A177-3AD203B41FA5}">
                      <a16:colId xmlns:a16="http://schemas.microsoft.com/office/drawing/2014/main" val="2910694185"/>
                    </a:ext>
                  </a:extLst>
                </a:gridCol>
                <a:gridCol w="867161">
                  <a:extLst>
                    <a:ext uri="{9D8B030D-6E8A-4147-A177-3AD203B41FA5}">
                      <a16:colId xmlns:a16="http://schemas.microsoft.com/office/drawing/2014/main" val="4250148895"/>
                    </a:ext>
                  </a:extLst>
                </a:gridCol>
              </a:tblGrid>
              <a:tr h="511277">
                <a:tc>
                  <a:txBody>
                    <a:bodyPr/>
                    <a:lstStyle/>
                    <a:p>
                      <a:endParaRPr lang="it-IT" dirty="0"/>
                    </a:p>
                  </a:txBody>
                  <a:tcPr/>
                </a:tc>
                <a:tc gridSpan="3">
                  <a:txBody>
                    <a:bodyPr/>
                    <a:lstStyle/>
                    <a:p>
                      <a:pPr algn="ctr"/>
                      <a:r>
                        <a:rPr lang="it-IT" dirty="0" err="1"/>
                        <a:t>Accuracy</a:t>
                      </a:r>
                      <a:endParaRPr lang="it-IT" dirty="0"/>
                    </a:p>
                  </a:txBody>
                  <a:tcPr/>
                </a:tc>
                <a:tc hMerge="1">
                  <a:txBody>
                    <a:bodyPr/>
                    <a:lstStyle/>
                    <a:p>
                      <a:endParaRPr lang="it-IT" dirty="0"/>
                    </a:p>
                  </a:txBody>
                  <a:tcPr/>
                </a:tc>
                <a:tc hMerge="1">
                  <a:txBody>
                    <a:bodyPr/>
                    <a:lstStyle/>
                    <a:p>
                      <a:endParaRPr lang="it-IT" dirty="0"/>
                    </a:p>
                  </a:txBody>
                  <a:tcPr/>
                </a:tc>
                <a:tc gridSpan="3">
                  <a:txBody>
                    <a:bodyPr/>
                    <a:lstStyle/>
                    <a:p>
                      <a:pPr algn="ctr"/>
                      <a:r>
                        <a:rPr lang="it-IT" dirty="0"/>
                        <a:t>Precision</a:t>
                      </a:r>
                    </a:p>
                  </a:txBody>
                  <a:tcPr/>
                </a:tc>
                <a:tc hMerge="1">
                  <a:txBody>
                    <a:bodyPr/>
                    <a:lstStyle/>
                    <a:p>
                      <a:endParaRPr lang="it-IT" dirty="0"/>
                    </a:p>
                  </a:txBody>
                  <a:tcPr/>
                </a:tc>
                <a:tc hMerge="1">
                  <a:txBody>
                    <a:bodyPr/>
                    <a:lstStyle/>
                    <a:p>
                      <a:endParaRPr lang="it-IT" dirty="0"/>
                    </a:p>
                  </a:txBody>
                  <a:tcPr/>
                </a:tc>
                <a:tc gridSpan="3">
                  <a:txBody>
                    <a:bodyPr/>
                    <a:lstStyle/>
                    <a:p>
                      <a:pPr algn="ctr"/>
                      <a:r>
                        <a:rPr lang="it-IT" dirty="0"/>
                        <a:t>Recall</a:t>
                      </a:r>
                    </a:p>
                  </a:txBody>
                  <a:tcPr/>
                </a:tc>
                <a:tc hMerge="1">
                  <a:txBody>
                    <a:bodyPr/>
                    <a:lstStyle/>
                    <a:p>
                      <a:endParaRPr lang="it-IT" dirty="0"/>
                    </a:p>
                  </a:txBody>
                  <a:tcPr/>
                </a:tc>
                <a:tc hMerge="1">
                  <a:txBody>
                    <a:bodyPr/>
                    <a:lstStyle/>
                    <a:p>
                      <a:endParaRPr lang="it-IT" dirty="0"/>
                    </a:p>
                  </a:txBody>
                  <a:tcPr/>
                </a:tc>
                <a:tc gridSpan="3">
                  <a:txBody>
                    <a:bodyPr/>
                    <a:lstStyle/>
                    <a:p>
                      <a:pPr algn="ctr"/>
                      <a:r>
                        <a:rPr lang="it-IT" dirty="0"/>
                        <a:t>F1 score</a:t>
                      </a:r>
                    </a:p>
                  </a:txBody>
                  <a:tcPr/>
                </a:tc>
                <a:tc hMerge="1">
                  <a:txBody>
                    <a:bodyPr/>
                    <a:lstStyle/>
                    <a:p>
                      <a:endParaRPr lang="it-IT" dirty="0"/>
                    </a:p>
                  </a:txBody>
                  <a:tcPr/>
                </a:tc>
                <a:tc hMerge="1">
                  <a:txBody>
                    <a:bodyPr/>
                    <a:lstStyle/>
                    <a:p>
                      <a:endParaRPr lang="it-IT" dirty="0"/>
                    </a:p>
                  </a:txBody>
                  <a:tcPr/>
                </a:tc>
                <a:extLst>
                  <a:ext uri="{0D108BD9-81ED-4DB2-BD59-A6C34878D82A}">
                    <a16:rowId xmlns:a16="http://schemas.microsoft.com/office/drawing/2014/main" val="2619656366"/>
                  </a:ext>
                </a:extLst>
              </a:tr>
              <a:tr h="868198">
                <a:tc>
                  <a:txBody>
                    <a:bodyPr/>
                    <a:lstStyle/>
                    <a:p>
                      <a:endParaRPr lang="it-IT" dirty="0"/>
                    </a:p>
                  </a:txBody>
                  <a:tcPr/>
                </a:tc>
                <a:tc>
                  <a:txBody>
                    <a:bodyPr/>
                    <a:lstStyle/>
                    <a:p>
                      <a:r>
                        <a:rPr lang="it-IT" b="1" dirty="0"/>
                        <a:t>10%</a:t>
                      </a:r>
                    </a:p>
                  </a:txBody>
                  <a:tcPr/>
                </a:tc>
                <a:tc>
                  <a:txBody>
                    <a:bodyPr/>
                    <a:lstStyle/>
                    <a:p>
                      <a:r>
                        <a:rPr lang="it-IT" b="1" dirty="0"/>
                        <a:t>20</a:t>
                      </a:r>
                      <a:r>
                        <a:rPr lang="it-IT" dirty="0"/>
                        <a:t>%</a:t>
                      </a:r>
                    </a:p>
                  </a:txBody>
                  <a:tcPr/>
                </a:tc>
                <a:tc>
                  <a:txBody>
                    <a:bodyPr/>
                    <a:lstStyle/>
                    <a:p>
                      <a:r>
                        <a:rPr lang="it-IT" b="1" dirty="0"/>
                        <a:t>30%</a:t>
                      </a:r>
                    </a:p>
                  </a:txBody>
                  <a:tcPr/>
                </a:tc>
                <a:tc>
                  <a:txBody>
                    <a:bodyPr/>
                    <a:lstStyle/>
                    <a:p>
                      <a:r>
                        <a:rPr lang="it-IT" b="1" dirty="0"/>
                        <a:t>10%</a:t>
                      </a:r>
                    </a:p>
                  </a:txBody>
                  <a:tcPr/>
                </a:tc>
                <a:tc>
                  <a:txBody>
                    <a:bodyPr/>
                    <a:lstStyle/>
                    <a:p>
                      <a:r>
                        <a:rPr lang="it-IT" b="1" dirty="0"/>
                        <a:t>20%</a:t>
                      </a:r>
                    </a:p>
                  </a:txBody>
                  <a:tcPr/>
                </a:tc>
                <a:tc>
                  <a:txBody>
                    <a:bodyPr/>
                    <a:lstStyle/>
                    <a:p>
                      <a:r>
                        <a:rPr lang="it-IT" b="1" dirty="0"/>
                        <a:t>30%</a:t>
                      </a:r>
                    </a:p>
                  </a:txBody>
                  <a:tcPr/>
                </a:tc>
                <a:tc>
                  <a:txBody>
                    <a:bodyPr/>
                    <a:lstStyle/>
                    <a:p>
                      <a:r>
                        <a:rPr lang="it-IT" b="1" dirty="0"/>
                        <a:t>10%</a:t>
                      </a:r>
                    </a:p>
                  </a:txBody>
                  <a:tcPr/>
                </a:tc>
                <a:tc>
                  <a:txBody>
                    <a:bodyPr/>
                    <a:lstStyle/>
                    <a:p>
                      <a:r>
                        <a:rPr lang="it-IT" b="1" dirty="0"/>
                        <a:t>20%</a:t>
                      </a:r>
                    </a:p>
                  </a:txBody>
                  <a:tcPr/>
                </a:tc>
                <a:tc>
                  <a:txBody>
                    <a:bodyPr/>
                    <a:lstStyle/>
                    <a:p>
                      <a:r>
                        <a:rPr lang="it-IT" b="1" dirty="0"/>
                        <a:t>30%</a:t>
                      </a:r>
                    </a:p>
                  </a:txBody>
                  <a:tcPr/>
                </a:tc>
                <a:tc>
                  <a:txBody>
                    <a:bodyPr/>
                    <a:lstStyle/>
                    <a:p>
                      <a:r>
                        <a:rPr lang="it-IT" b="1" dirty="0"/>
                        <a:t>10%</a:t>
                      </a:r>
                    </a:p>
                  </a:txBody>
                  <a:tcPr/>
                </a:tc>
                <a:tc>
                  <a:txBody>
                    <a:bodyPr/>
                    <a:lstStyle/>
                    <a:p>
                      <a:r>
                        <a:rPr lang="it-IT" b="1" dirty="0"/>
                        <a:t>20%</a:t>
                      </a:r>
                    </a:p>
                  </a:txBody>
                  <a:tcPr/>
                </a:tc>
                <a:tc>
                  <a:txBody>
                    <a:bodyPr/>
                    <a:lstStyle/>
                    <a:p>
                      <a:r>
                        <a:rPr lang="it-IT" b="1" dirty="0"/>
                        <a:t>30%</a:t>
                      </a:r>
                    </a:p>
                  </a:txBody>
                  <a:tcPr/>
                </a:tc>
                <a:extLst>
                  <a:ext uri="{0D108BD9-81ED-4DB2-BD59-A6C34878D82A}">
                    <a16:rowId xmlns:a16="http://schemas.microsoft.com/office/drawing/2014/main" val="1757388996"/>
                  </a:ext>
                </a:extLst>
              </a:tr>
              <a:tr h="868198">
                <a:tc>
                  <a:txBody>
                    <a:bodyPr/>
                    <a:lstStyle/>
                    <a:p>
                      <a:r>
                        <a:rPr lang="it-IT" dirty="0" err="1"/>
                        <a:t>Logistic</a:t>
                      </a:r>
                      <a:r>
                        <a:rPr lang="it-IT" dirty="0"/>
                        <a:t> </a:t>
                      </a:r>
                      <a:r>
                        <a:rPr lang="it-IT" dirty="0" err="1"/>
                        <a:t>Regression</a:t>
                      </a:r>
                      <a:endParaRPr lang="it-IT" dirty="0"/>
                    </a:p>
                  </a:txBody>
                  <a:tcPr/>
                </a:tc>
                <a:tc>
                  <a:txBody>
                    <a:bodyPr/>
                    <a:lstStyle/>
                    <a:p>
                      <a:r>
                        <a:rPr lang="it-IT" dirty="0"/>
                        <a:t>0,293</a:t>
                      </a:r>
                    </a:p>
                  </a:txBody>
                  <a:tcPr/>
                </a:tc>
                <a:tc>
                  <a:txBody>
                    <a:bodyPr/>
                    <a:lstStyle/>
                    <a:p>
                      <a:r>
                        <a:rPr lang="it-IT" dirty="0"/>
                        <a:t>0,3195</a:t>
                      </a:r>
                    </a:p>
                  </a:txBody>
                  <a:tcPr/>
                </a:tc>
                <a:tc>
                  <a:txBody>
                    <a:bodyPr/>
                    <a:lstStyle/>
                    <a:p>
                      <a:r>
                        <a:rPr lang="it-IT" dirty="0"/>
                        <a:t>0,347</a:t>
                      </a:r>
                    </a:p>
                  </a:txBody>
                  <a:tcPr/>
                </a:tc>
                <a:tc>
                  <a:txBody>
                    <a:bodyPr/>
                    <a:lstStyle/>
                    <a:p>
                      <a:r>
                        <a:rPr lang="it-IT" dirty="0"/>
                        <a:t>0,29</a:t>
                      </a:r>
                    </a:p>
                  </a:txBody>
                  <a:tcPr/>
                </a:tc>
                <a:tc>
                  <a:txBody>
                    <a:bodyPr/>
                    <a:lstStyle/>
                    <a:p>
                      <a:r>
                        <a:rPr lang="it-IT" dirty="0"/>
                        <a:t>0,32</a:t>
                      </a:r>
                    </a:p>
                  </a:txBody>
                  <a:tcPr/>
                </a:tc>
                <a:tc>
                  <a:txBody>
                    <a:bodyPr/>
                    <a:lstStyle/>
                    <a:p>
                      <a:r>
                        <a:rPr lang="it-IT" dirty="0"/>
                        <a:t>0,34</a:t>
                      </a:r>
                    </a:p>
                  </a:txBody>
                  <a:tcPr/>
                </a:tc>
                <a:tc>
                  <a:txBody>
                    <a:bodyPr/>
                    <a:lstStyle/>
                    <a:p>
                      <a:r>
                        <a:rPr lang="it-IT" dirty="0"/>
                        <a:t>0,29</a:t>
                      </a:r>
                    </a:p>
                  </a:txBody>
                  <a:tcPr/>
                </a:tc>
                <a:tc>
                  <a:txBody>
                    <a:bodyPr/>
                    <a:lstStyle/>
                    <a:p>
                      <a:r>
                        <a:rPr lang="it-IT" dirty="0"/>
                        <a:t>0,32</a:t>
                      </a:r>
                    </a:p>
                  </a:txBody>
                  <a:tcPr/>
                </a:tc>
                <a:tc>
                  <a:txBody>
                    <a:bodyPr/>
                    <a:lstStyle/>
                    <a:p>
                      <a:r>
                        <a:rPr lang="it-IT" dirty="0"/>
                        <a:t>0,35</a:t>
                      </a:r>
                    </a:p>
                  </a:txBody>
                  <a:tcPr/>
                </a:tc>
                <a:tc>
                  <a:txBody>
                    <a:bodyPr/>
                    <a:lstStyle/>
                    <a:p>
                      <a:r>
                        <a:rPr lang="it-IT" dirty="0"/>
                        <a:t>0,29</a:t>
                      </a:r>
                    </a:p>
                  </a:txBody>
                  <a:tcPr/>
                </a:tc>
                <a:tc>
                  <a:txBody>
                    <a:bodyPr/>
                    <a:lstStyle/>
                    <a:p>
                      <a:r>
                        <a:rPr lang="it-IT" dirty="0"/>
                        <a:t>0,32</a:t>
                      </a:r>
                    </a:p>
                  </a:txBody>
                  <a:tcPr/>
                </a:tc>
                <a:tc>
                  <a:txBody>
                    <a:bodyPr/>
                    <a:lstStyle/>
                    <a:p>
                      <a:r>
                        <a:rPr lang="it-IT" dirty="0"/>
                        <a:t>0,34</a:t>
                      </a:r>
                    </a:p>
                  </a:txBody>
                  <a:tcPr/>
                </a:tc>
                <a:extLst>
                  <a:ext uri="{0D108BD9-81ED-4DB2-BD59-A6C34878D82A}">
                    <a16:rowId xmlns:a16="http://schemas.microsoft.com/office/drawing/2014/main" val="1274743851"/>
                  </a:ext>
                </a:extLst>
              </a:tr>
              <a:tr h="868198">
                <a:tc>
                  <a:txBody>
                    <a:bodyPr/>
                    <a:lstStyle/>
                    <a:p>
                      <a:r>
                        <a:rPr lang="it-IT" dirty="0"/>
                        <a:t>SVM</a:t>
                      </a:r>
                    </a:p>
                  </a:txBody>
                  <a:tcPr/>
                </a:tc>
                <a:tc>
                  <a:txBody>
                    <a:bodyPr/>
                    <a:lstStyle/>
                    <a:p>
                      <a:r>
                        <a:rPr lang="it-IT" dirty="0"/>
                        <a:t>0,454</a:t>
                      </a:r>
                    </a:p>
                  </a:txBody>
                  <a:tcPr/>
                </a:tc>
                <a:tc>
                  <a:txBody>
                    <a:bodyPr/>
                    <a:lstStyle/>
                    <a:p>
                      <a:r>
                        <a:rPr lang="it-IT" dirty="0"/>
                        <a:t>0,462</a:t>
                      </a:r>
                    </a:p>
                  </a:txBody>
                  <a:tcPr/>
                </a:tc>
                <a:tc>
                  <a:txBody>
                    <a:bodyPr/>
                    <a:lstStyle/>
                    <a:p>
                      <a:r>
                        <a:rPr lang="it-IT" dirty="0"/>
                        <a:t>0,50</a:t>
                      </a:r>
                    </a:p>
                  </a:txBody>
                  <a:tcPr/>
                </a:tc>
                <a:tc>
                  <a:txBody>
                    <a:bodyPr/>
                    <a:lstStyle/>
                    <a:p>
                      <a:r>
                        <a:rPr lang="it-IT" dirty="0"/>
                        <a:t>0,46</a:t>
                      </a:r>
                    </a:p>
                  </a:txBody>
                  <a:tcPr/>
                </a:tc>
                <a:tc>
                  <a:txBody>
                    <a:bodyPr/>
                    <a:lstStyle/>
                    <a:p>
                      <a:r>
                        <a:rPr lang="it-IT" dirty="0"/>
                        <a:t>0,46</a:t>
                      </a:r>
                    </a:p>
                  </a:txBody>
                  <a:tcPr/>
                </a:tc>
                <a:tc>
                  <a:txBody>
                    <a:bodyPr/>
                    <a:lstStyle/>
                    <a:p>
                      <a:r>
                        <a:rPr lang="it-IT" dirty="0"/>
                        <a:t>0,50</a:t>
                      </a:r>
                    </a:p>
                  </a:txBody>
                  <a:tcPr/>
                </a:tc>
                <a:tc>
                  <a:txBody>
                    <a:bodyPr/>
                    <a:lstStyle/>
                    <a:p>
                      <a:r>
                        <a:rPr lang="it-IT" dirty="0"/>
                        <a:t>0,45</a:t>
                      </a:r>
                    </a:p>
                  </a:txBody>
                  <a:tcPr/>
                </a:tc>
                <a:tc>
                  <a:txBody>
                    <a:bodyPr/>
                    <a:lstStyle/>
                    <a:p>
                      <a:r>
                        <a:rPr lang="it-IT" dirty="0"/>
                        <a:t>0,46</a:t>
                      </a:r>
                    </a:p>
                  </a:txBody>
                  <a:tcPr/>
                </a:tc>
                <a:tc>
                  <a:txBody>
                    <a:bodyPr/>
                    <a:lstStyle/>
                    <a:p>
                      <a:r>
                        <a:rPr lang="it-IT" dirty="0"/>
                        <a:t>0,50</a:t>
                      </a:r>
                    </a:p>
                  </a:txBody>
                  <a:tcPr/>
                </a:tc>
                <a:tc>
                  <a:txBody>
                    <a:bodyPr/>
                    <a:lstStyle/>
                    <a:p>
                      <a:r>
                        <a:rPr lang="it-IT" dirty="0"/>
                        <a:t>0,45</a:t>
                      </a:r>
                    </a:p>
                  </a:txBody>
                  <a:tcPr/>
                </a:tc>
                <a:tc>
                  <a:txBody>
                    <a:bodyPr/>
                    <a:lstStyle/>
                    <a:p>
                      <a:r>
                        <a:rPr lang="it-IT" dirty="0"/>
                        <a:t>0,46</a:t>
                      </a:r>
                    </a:p>
                  </a:txBody>
                  <a:tcPr/>
                </a:tc>
                <a:tc>
                  <a:txBody>
                    <a:bodyPr/>
                    <a:lstStyle/>
                    <a:p>
                      <a:r>
                        <a:rPr lang="it-IT" dirty="0"/>
                        <a:t>0,50</a:t>
                      </a:r>
                    </a:p>
                  </a:txBody>
                  <a:tcPr/>
                </a:tc>
                <a:extLst>
                  <a:ext uri="{0D108BD9-81ED-4DB2-BD59-A6C34878D82A}">
                    <a16:rowId xmlns:a16="http://schemas.microsoft.com/office/drawing/2014/main" val="2777997959"/>
                  </a:ext>
                </a:extLst>
              </a:tr>
              <a:tr h="868198">
                <a:tc>
                  <a:txBody>
                    <a:bodyPr/>
                    <a:lstStyle/>
                    <a:p>
                      <a:r>
                        <a:rPr lang="it-IT" dirty="0"/>
                        <a:t>KNN</a:t>
                      </a:r>
                    </a:p>
                  </a:txBody>
                  <a:tcPr/>
                </a:tc>
                <a:tc>
                  <a:txBody>
                    <a:bodyPr/>
                    <a:lstStyle/>
                    <a:p>
                      <a:r>
                        <a:rPr lang="it-IT" dirty="0"/>
                        <a:t>0,344</a:t>
                      </a:r>
                    </a:p>
                  </a:txBody>
                  <a:tcPr/>
                </a:tc>
                <a:tc>
                  <a:txBody>
                    <a:bodyPr/>
                    <a:lstStyle/>
                    <a:p>
                      <a:r>
                        <a:rPr lang="it-IT" dirty="0"/>
                        <a:t>0,3675</a:t>
                      </a:r>
                    </a:p>
                  </a:txBody>
                  <a:tcPr/>
                </a:tc>
                <a:tc>
                  <a:txBody>
                    <a:bodyPr/>
                    <a:lstStyle/>
                    <a:p>
                      <a:r>
                        <a:rPr lang="it-IT" dirty="0"/>
                        <a:t>0,398</a:t>
                      </a:r>
                    </a:p>
                  </a:txBody>
                  <a:tcPr/>
                </a:tc>
                <a:tc>
                  <a:txBody>
                    <a:bodyPr/>
                    <a:lstStyle/>
                    <a:p>
                      <a:r>
                        <a:rPr lang="it-IT" dirty="0"/>
                        <a:t>0,35</a:t>
                      </a:r>
                    </a:p>
                  </a:txBody>
                  <a:tcPr/>
                </a:tc>
                <a:tc>
                  <a:txBody>
                    <a:bodyPr/>
                    <a:lstStyle/>
                    <a:p>
                      <a:r>
                        <a:rPr lang="it-IT" dirty="0"/>
                        <a:t>0,39</a:t>
                      </a:r>
                    </a:p>
                  </a:txBody>
                  <a:tcPr/>
                </a:tc>
                <a:tc>
                  <a:txBody>
                    <a:bodyPr/>
                    <a:lstStyle/>
                    <a:p>
                      <a:r>
                        <a:rPr lang="it-IT" dirty="0"/>
                        <a:t>0,41</a:t>
                      </a:r>
                    </a:p>
                  </a:txBody>
                  <a:tcPr/>
                </a:tc>
                <a:tc>
                  <a:txBody>
                    <a:bodyPr/>
                    <a:lstStyle/>
                    <a:p>
                      <a:r>
                        <a:rPr lang="it-IT" dirty="0"/>
                        <a:t>0,34</a:t>
                      </a:r>
                    </a:p>
                  </a:txBody>
                  <a:tcPr/>
                </a:tc>
                <a:tc>
                  <a:txBody>
                    <a:bodyPr/>
                    <a:lstStyle/>
                    <a:p>
                      <a:r>
                        <a:rPr lang="it-IT" dirty="0"/>
                        <a:t>0,37</a:t>
                      </a:r>
                    </a:p>
                  </a:txBody>
                  <a:tcPr/>
                </a:tc>
                <a:tc>
                  <a:txBody>
                    <a:bodyPr/>
                    <a:lstStyle/>
                    <a:p>
                      <a:r>
                        <a:rPr lang="it-IT" dirty="0"/>
                        <a:t>0,40</a:t>
                      </a:r>
                    </a:p>
                  </a:txBody>
                  <a:tcPr/>
                </a:tc>
                <a:tc>
                  <a:txBody>
                    <a:bodyPr/>
                    <a:lstStyle/>
                    <a:p>
                      <a:r>
                        <a:rPr lang="it-IT" dirty="0"/>
                        <a:t>0,34</a:t>
                      </a:r>
                    </a:p>
                  </a:txBody>
                  <a:tcPr/>
                </a:tc>
                <a:tc>
                  <a:txBody>
                    <a:bodyPr/>
                    <a:lstStyle/>
                    <a:p>
                      <a:r>
                        <a:rPr lang="it-IT" dirty="0"/>
                        <a:t>0,36</a:t>
                      </a:r>
                    </a:p>
                  </a:txBody>
                  <a:tcPr/>
                </a:tc>
                <a:tc>
                  <a:txBody>
                    <a:bodyPr/>
                    <a:lstStyle/>
                    <a:p>
                      <a:r>
                        <a:rPr lang="it-IT" dirty="0"/>
                        <a:t>0,39</a:t>
                      </a:r>
                    </a:p>
                  </a:txBody>
                  <a:tcPr/>
                </a:tc>
                <a:extLst>
                  <a:ext uri="{0D108BD9-81ED-4DB2-BD59-A6C34878D82A}">
                    <a16:rowId xmlns:a16="http://schemas.microsoft.com/office/drawing/2014/main" val="379048366"/>
                  </a:ext>
                </a:extLst>
              </a:tr>
              <a:tr h="868198">
                <a:tc>
                  <a:txBody>
                    <a:bodyPr/>
                    <a:lstStyle/>
                    <a:p>
                      <a:r>
                        <a:rPr lang="it-IT" dirty="0" err="1"/>
                        <a:t>Decision</a:t>
                      </a:r>
                      <a:r>
                        <a:rPr lang="it-IT" dirty="0"/>
                        <a:t> Tree</a:t>
                      </a:r>
                    </a:p>
                  </a:txBody>
                  <a:tcPr/>
                </a:tc>
                <a:tc>
                  <a:txBody>
                    <a:bodyPr/>
                    <a:lstStyle/>
                    <a:p>
                      <a:r>
                        <a:rPr lang="it-IT" dirty="0"/>
                        <a:t>0,229</a:t>
                      </a:r>
                    </a:p>
                  </a:txBody>
                  <a:tcPr/>
                </a:tc>
                <a:tc>
                  <a:txBody>
                    <a:bodyPr/>
                    <a:lstStyle/>
                    <a:p>
                      <a:r>
                        <a:rPr lang="it-IT" dirty="0"/>
                        <a:t>0,2465</a:t>
                      </a:r>
                    </a:p>
                  </a:txBody>
                  <a:tcPr/>
                </a:tc>
                <a:tc>
                  <a:txBody>
                    <a:bodyPr/>
                    <a:lstStyle/>
                    <a:p>
                      <a:r>
                        <a:rPr lang="it-IT" dirty="0"/>
                        <a:t>0,265</a:t>
                      </a:r>
                    </a:p>
                  </a:txBody>
                  <a:tcPr/>
                </a:tc>
                <a:tc>
                  <a:txBody>
                    <a:bodyPr/>
                    <a:lstStyle/>
                    <a:p>
                      <a:r>
                        <a:rPr lang="it-IT" dirty="0"/>
                        <a:t>0,23</a:t>
                      </a:r>
                    </a:p>
                  </a:txBody>
                  <a:tcPr/>
                </a:tc>
                <a:tc>
                  <a:txBody>
                    <a:bodyPr/>
                    <a:lstStyle/>
                    <a:p>
                      <a:r>
                        <a:rPr lang="it-IT" dirty="0"/>
                        <a:t>0,24</a:t>
                      </a:r>
                    </a:p>
                  </a:txBody>
                  <a:tcPr/>
                </a:tc>
                <a:tc>
                  <a:txBody>
                    <a:bodyPr/>
                    <a:lstStyle/>
                    <a:p>
                      <a:r>
                        <a:rPr lang="it-IT" dirty="0"/>
                        <a:t>0,26</a:t>
                      </a:r>
                    </a:p>
                  </a:txBody>
                  <a:tcPr/>
                </a:tc>
                <a:tc>
                  <a:txBody>
                    <a:bodyPr/>
                    <a:lstStyle/>
                    <a:p>
                      <a:r>
                        <a:rPr lang="it-IT" dirty="0"/>
                        <a:t>0,23</a:t>
                      </a:r>
                    </a:p>
                  </a:txBody>
                  <a:tcPr/>
                </a:tc>
                <a:tc>
                  <a:txBody>
                    <a:bodyPr/>
                    <a:lstStyle/>
                    <a:p>
                      <a:r>
                        <a:rPr lang="it-IT" dirty="0"/>
                        <a:t>0,25</a:t>
                      </a:r>
                    </a:p>
                  </a:txBody>
                  <a:tcPr/>
                </a:tc>
                <a:tc>
                  <a:txBody>
                    <a:bodyPr/>
                    <a:lstStyle/>
                    <a:p>
                      <a:r>
                        <a:rPr lang="it-IT" dirty="0"/>
                        <a:t>0,27</a:t>
                      </a:r>
                    </a:p>
                  </a:txBody>
                  <a:tcPr/>
                </a:tc>
                <a:tc>
                  <a:txBody>
                    <a:bodyPr/>
                    <a:lstStyle/>
                    <a:p>
                      <a:r>
                        <a:rPr lang="it-IT" dirty="0"/>
                        <a:t>0,22</a:t>
                      </a:r>
                    </a:p>
                  </a:txBody>
                  <a:tcPr/>
                </a:tc>
                <a:tc>
                  <a:txBody>
                    <a:bodyPr/>
                    <a:lstStyle/>
                    <a:p>
                      <a:r>
                        <a:rPr lang="it-IT" dirty="0"/>
                        <a:t>0,24</a:t>
                      </a:r>
                    </a:p>
                  </a:txBody>
                  <a:tcPr/>
                </a:tc>
                <a:tc>
                  <a:txBody>
                    <a:bodyPr/>
                    <a:lstStyle/>
                    <a:p>
                      <a:r>
                        <a:rPr lang="it-IT" dirty="0"/>
                        <a:t>0,26</a:t>
                      </a:r>
                    </a:p>
                  </a:txBody>
                  <a:tcPr/>
                </a:tc>
                <a:extLst>
                  <a:ext uri="{0D108BD9-81ED-4DB2-BD59-A6C34878D82A}">
                    <a16:rowId xmlns:a16="http://schemas.microsoft.com/office/drawing/2014/main" val="4162056832"/>
                  </a:ext>
                </a:extLst>
              </a:tr>
            </a:tbl>
          </a:graphicData>
        </a:graphic>
      </p:graphicFrame>
      <p:sp>
        <p:nvSpPr>
          <p:cNvPr id="6" name="CasellaDiTesto 5">
            <a:extLst>
              <a:ext uri="{FF2B5EF4-FFF2-40B4-BE49-F238E27FC236}">
                <a16:creationId xmlns:a16="http://schemas.microsoft.com/office/drawing/2014/main" id="{245D457C-33D9-BA87-9358-A016EFBBC753}"/>
              </a:ext>
            </a:extLst>
          </p:cNvPr>
          <p:cNvSpPr txBox="1"/>
          <p:nvPr/>
        </p:nvSpPr>
        <p:spPr>
          <a:xfrm>
            <a:off x="978310" y="117940"/>
            <a:ext cx="10235380" cy="1446550"/>
          </a:xfrm>
          <a:prstGeom prst="rect">
            <a:avLst/>
          </a:prstGeom>
          <a:noFill/>
        </p:spPr>
        <p:txBody>
          <a:bodyPr wrap="square" rtlCol="0">
            <a:spAutoFit/>
          </a:bodyPr>
          <a:lstStyle/>
          <a:p>
            <a:pPr algn="ctr"/>
            <a:r>
              <a:rPr lang="it-IT" sz="4400" dirty="0"/>
              <a:t>Confronto risultati al variare della percentuale di sotto-campionamento</a:t>
            </a:r>
          </a:p>
        </p:txBody>
      </p:sp>
    </p:spTree>
    <p:extLst>
      <p:ext uri="{BB962C8B-B14F-4D97-AF65-F5344CB8AC3E}">
        <p14:creationId xmlns:p14="http://schemas.microsoft.com/office/powerpoint/2010/main" val="2701235302"/>
      </p:ext>
    </p:extLst>
  </p:cSld>
  <p:clrMapOvr>
    <a:masterClrMapping/>
  </p:clrMapOvr>
</p:sld>
</file>

<file path=ppt/theme/theme1.xml><?xml version="1.0" encoding="utf-8"?>
<a:theme xmlns:a="http://schemas.openxmlformats.org/drawingml/2006/main" name="Ritaglio">
  <a:themeElements>
    <a:clrScheme name="Ritaglio">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itaglio">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itaglio">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TM10001105[[fn=Ritaglio]]</Template>
  <TotalTime>3883</TotalTime>
  <Words>793</Words>
  <Application>Microsoft Office PowerPoint</Application>
  <PresentationFormat>Widescreen</PresentationFormat>
  <Paragraphs>129</Paragraphs>
  <Slides>7</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7</vt:i4>
      </vt:variant>
    </vt:vector>
  </HeadingPairs>
  <TitlesOfParts>
    <vt:vector size="12" baseType="lpstr">
      <vt:lpstr>Aptos</vt:lpstr>
      <vt:lpstr>Arial</vt:lpstr>
      <vt:lpstr>Arial Unicode MS</vt:lpstr>
      <vt:lpstr>Franklin Gothic Book</vt:lpstr>
      <vt:lpstr>Ritaglio</vt:lpstr>
      <vt:lpstr>Home work 2 - ml</vt:lpstr>
      <vt:lpstr>CIFAR-10</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DANIELE VILLARA'</dc:creator>
  <cp:lastModifiedBy>DANIELE VILLARA'</cp:lastModifiedBy>
  <cp:revision>1</cp:revision>
  <dcterms:created xsi:type="dcterms:W3CDTF">2025-04-29T16:46:31Z</dcterms:created>
  <dcterms:modified xsi:type="dcterms:W3CDTF">2025-05-02T09:29:51Z</dcterms:modified>
</cp:coreProperties>
</file>